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6375DB-697D-4C86-AC4F-AC68F77DEC42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6473C8-9A38-489F-95EA-9A9CF0ABBF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4180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6473C8-9A38-489F-95EA-9A9CF0ABBF1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8290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5818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kistanlawsite.com/" TargetMode="External"/><Relationship Id="rId7" Type="http://schemas.openxmlformats.org/officeDocument/2006/relationships/hyperlink" Target="https://play.google.com/store/apps/details?id=pk.digit.aiwakeel" TargetMode="External"/><Relationship Id="rId2" Type="http://schemas.openxmlformats.org/officeDocument/2006/relationships/hyperlink" Target="https://pakistancode.gov.pk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legal.io/legal-software/198/Casetext" TargetMode="External"/><Relationship Id="rId5" Type="http://schemas.openxmlformats.org/officeDocument/2006/relationships/hyperlink" Target="https://www.harvey.ai/" TargetMode="External"/><Relationship Id="rId4" Type="http://schemas.openxmlformats.org/officeDocument/2006/relationships/hyperlink" Target="https://www.paklawsite.com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023360" y="704088"/>
            <a:ext cx="4160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BE9443"/>
                </a:solidFill>
                <a:latin typeface="Aptos"/>
              </a:rPr>
              <a:t>FINAL YEAR PROJECT  ·  PRESENTATION 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78424" y="1078992"/>
            <a:ext cx="822960" cy="41148"/>
          </a:xfrm>
          <a:prstGeom prst="rect">
            <a:avLst/>
          </a:prstGeom>
          <a:solidFill>
            <a:srgbClr val="A03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627632"/>
            <a:ext cx="10360152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000" b="1">
                <a:solidFill>
                  <a:srgbClr val="F4EFE2"/>
                </a:solidFill>
                <a:latin typeface="Georgia"/>
              </a:rPr>
              <a:t>Nizam-e-Qanoon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395728"/>
            <a:ext cx="3959352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BE9443"/>
                </a:solidFill>
                <a:latin typeface="Georgia"/>
              </a:rPr>
              <a:t>نظامِ قانون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3081528"/>
            <a:ext cx="2057400" cy="22860"/>
          </a:xfrm>
          <a:prstGeom prst="rect">
            <a:avLst/>
          </a:prstGeom>
          <a:solidFill>
            <a:srgbClr val="BE9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04304" y="3081528"/>
            <a:ext cx="2057400" cy="22860"/>
          </a:xfrm>
          <a:prstGeom prst="rect">
            <a:avLst/>
          </a:prstGeom>
          <a:solidFill>
            <a:srgbClr val="BE9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iamond 15"/>
          <p:cNvSpPr/>
          <p:nvPr/>
        </p:nvSpPr>
        <p:spPr>
          <a:xfrm>
            <a:off x="5632704" y="2990088"/>
            <a:ext cx="164592" cy="164592"/>
          </a:xfrm>
          <a:prstGeom prst="diamond">
            <a:avLst/>
          </a:prstGeom>
          <a:solidFill>
            <a:srgbClr val="BE9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iamond 16"/>
          <p:cNvSpPr/>
          <p:nvPr/>
        </p:nvSpPr>
        <p:spPr>
          <a:xfrm>
            <a:off x="6016752" y="2990088"/>
            <a:ext cx="164592" cy="164592"/>
          </a:xfrm>
          <a:prstGeom prst="diamond">
            <a:avLst/>
          </a:prstGeom>
          <a:solidFill>
            <a:srgbClr val="BE9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Diamond 17"/>
          <p:cNvSpPr/>
          <p:nvPr/>
        </p:nvSpPr>
        <p:spPr>
          <a:xfrm>
            <a:off x="6400800" y="2990088"/>
            <a:ext cx="164592" cy="164592"/>
          </a:xfrm>
          <a:prstGeom prst="diamond">
            <a:avLst/>
          </a:prstGeom>
          <a:solidFill>
            <a:srgbClr val="BE94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10274" y="3394763"/>
            <a:ext cx="5168403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i="1" dirty="0">
                <a:solidFill>
                  <a:srgbClr val="F4EFE2"/>
                </a:solidFill>
                <a:latin typeface="Georgia"/>
              </a:rPr>
              <a:t>Pakistan’s Intelligent Legal </a:t>
            </a:r>
            <a:r>
              <a:rPr lang="en-GB" sz="2400" i="1" dirty="0">
                <a:solidFill>
                  <a:srgbClr val="F4EFE2"/>
                </a:solidFill>
                <a:latin typeface="Georgia"/>
              </a:rPr>
              <a:t>Solution</a:t>
            </a:r>
            <a:endParaRPr sz="2400" i="1" dirty="0">
              <a:solidFill>
                <a:srgbClr val="F4EFE2"/>
              </a:solidFill>
              <a:latin typeface="Georgi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28800" y="4041648"/>
            <a:ext cx="8531352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dirty="0">
                <a:solidFill>
                  <a:srgbClr val="D2C9B5"/>
                </a:solidFill>
                <a:latin typeface="Aptos"/>
              </a:rPr>
              <a:t>A legal mobile application for everyone within Pakistan’s court jurisdiction.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8602" y="4888632"/>
            <a:ext cx="5062604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dirty="0">
                <a:solidFill>
                  <a:srgbClr val="D2C9B5"/>
                </a:solidFill>
                <a:latin typeface="Aptos"/>
              </a:rPr>
              <a:t>Bilal Ahmad · Muhammad Ammar · Muzammil Idrees · Wali Mohammad Khan</a:t>
            </a:r>
            <a:endParaRPr lang="en-GB" sz="1050" dirty="0">
              <a:solidFill>
                <a:srgbClr val="D2C9B5"/>
              </a:solidFill>
              <a:latin typeface="Aptos"/>
            </a:endParaRPr>
          </a:p>
          <a:p>
            <a:r>
              <a:rPr lang="en-GB" sz="1050" dirty="0">
                <a:solidFill>
                  <a:srgbClr val="D2C9B5"/>
                </a:solidFill>
                <a:latin typeface="Aptos"/>
              </a:rPr>
              <a:t>    	2023162  	2023375                    2023481	  	 2023756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6007608"/>
            <a:ext cx="6080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60" b="1" dirty="0">
                <a:solidFill>
                  <a:srgbClr val="BE9443"/>
                </a:solidFill>
                <a:latin typeface="Aptos"/>
              </a:rPr>
              <a:t>GIKI · Faculty of Computer Science and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11128" y="6345936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F4EFE2"/>
                </a:solidFill>
                <a:latin typeface="Aptos"/>
              </a:rPr>
              <a:t>01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8C97AC-9EEE-F1EF-3A07-C2CBFB909CE9}"/>
              </a:ext>
            </a:extLst>
          </p:cNvPr>
          <p:cNvSpPr txBox="1"/>
          <p:nvPr/>
        </p:nvSpPr>
        <p:spPr>
          <a:xfrm>
            <a:off x="5050784" y="5319799"/>
            <a:ext cx="1931939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GB" sz="1050" dirty="0">
                <a:solidFill>
                  <a:srgbClr val="D2C9B5"/>
                </a:solidFill>
                <a:latin typeface="Aptos"/>
              </a:rPr>
              <a:t>Advisor: Dr. Muhammad Hanif</a:t>
            </a:r>
          </a:p>
          <a:p>
            <a:pPr algn="ctr"/>
            <a:r>
              <a:rPr lang="en-GB" sz="1050" dirty="0">
                <a:solidFill>
                  <a:srgbClr val="D2C9B5"/>
                </a:solidFill>
                <a:latin typeface="Aptos"/>
              </a:rPr>
              <a:t>Co Advisor: Ahsan Shah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7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01752"/>
            <a:ext cx="11155680" cy="16459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155680" cy="16459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3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2194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900" b="1" i="0">
                <a:solidFill>
                  <a:srgbClr val="896021"/>
                </a:solidFill>
                <a:latin typeface="Aptos"/>
              </a:rPr>
              <a:t>MOTIVATION  ·  JUSTIFICATION  ·  ETHICAL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475488"/>
            <a:ext cx="2057400" cy="21945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/>
            <a:r>
              <a:rPr sz="850" b="0" i="0">
                <a:solidFill>
                  <a:srgbClr val="896021"/>
                </a:solidFill>
                <a:latin typeface="Aptos"/>
              </a:rPr>
              <a:t>PEOPLE  |  LAW  | 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850392"/>
            <a:ext cx="8869680" cy="5486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2500" b="1" i="0" dirty="0">
                <a:solidFill>
                  <a:srgbClr val="123F36"/>
                </a:solidFill>
                <a:latin typeface="Georgia"/>
              </a:rPr>
              <a:t>How a small incident revealed a bigger legal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88288"/>
            <a:ext cx="7223760" cy="3108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1300" b="0" i="0" dirty="0">
                <a:solidFill>
                  <a:srgbClr val="5F584B"/>
                </a:solidFill>
                <a:latin typeface="Aptos"/>
              </a:rPr>
              <a:t>A real experience that became the motivation for Nizam-e-Qanoon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410712"/>
            <a:ext cx="10058400" cy="41148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2212848"/>
            <a:ext cx="2331720" cy="1115568"/>
          </a:xfrm>
          <a:prstGeom prst="roundRect">
            <a:avLst/>
          </a:prstGeom>
          <a:solidFill>
            <a:srgbClr val="F0E9DB"/>
          </a:solidFill>
          <a:ln w="1143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228600" rIns="118872" bIns="73152" rtlCol="0" anchor="ctr"/>
          <a:lstStyle/>
          <a:p>
            <a:pPr algn="ctr"/>
            <a:r>
              <a:rPr sz="1320" b="1">
                <a:solidFill>
                  <a:srgbClr val="123F36"/>
                </a:solidFill>
                <a:latin typeface="Georgia"/>
              </a:rPr>
              <a:t>GIKI → Islamabad</a:t>
            </a:r>
          </a:p>
          <a:p>
            <a:r>
              <a:rPr sz="1080">
                <a:solidFill>
                  <a:srgbClr val="5F584B"/>
                </a:solidFill>
                <a:latin typeface="Aptos"/>
              </a:rPr>
              <a:t>Travelling for an event
vendor discussion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" y="2231136"/>
            <a:ext cx="2295144" cy="155448"/>
          </a:xfrm>
          <a:prstGeom prst="roundRect">
            <a:avLst/>
          </a:prstGeom>
          <a:solidFill>
            <a:srgbClr val="123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53128" y="3182112"/>
            <a:ext cx="438912" cy="438912"/>
          </a:xfrm>
          <a:prstGeom prst="ellipse">
            <a:avLst/>
          </a:prstGeom>
          <a:solidFill>
            <a:srgbClr val="A04837"/>
          </a:solidFill>
          <a:ln w="1270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8F4EC"/>
                </a:solidFill>
                <a:latin typeface="Georgia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84448" y="3703320"/>
            <a:ext cx="2331720" cy="1115568"/>
          </a:xfrm>
          <a:prstGeom prst="roundRect">
            <a:avLst/>
          </a:prstGeom>
          <a:solidFill>
            <a:srgbClr val="F0E9DB"/>
          </a:solidFill>
          <a:ln w="1143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228600" rIns="118872" bIns="73152" rtlCol="0" anchor="ctr"/>
          <a:lstStyle/>
          <a:p>
            <a:pPr algn="ctr"/>
            <a:r>
              <a:rPr sz="1320" b="1">
                <a:solidFill>
                  <a:srgbClr val="123F36"/>
                </a:solidFill>
                <a:latin typeface="Georgia"/>
              </a:rPr>
              <a:t>Stopped &amp; Challaned</a:t>
            </a:r>
          </a:p>
          <a:p>
            <a:r>
              <a:rPr sz="1080">
                <a:solidFill>
                  <a:srgbClr val="5F584B"/>
                </a:solidFill>
                <a:latin typeface="Aptos"/>
              </a:rPr>
              <a:t>Police stopped us over
rear-window tint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2736" y="3721607"/>
            <a:ext cx="2295144" cy="155448"/>
          </a:xfrm>
          <a:prstGeom prst="roundRect">
            <a:avLst/>
          </a:prstGeom>
          <a:solidFill>
            <a:srgbClr val="A04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19088" y="2212848"/>
            <a:ext cx="2331720" cy="1115568"/>
          </a:xfrm>
          <a:prstGeom prst="roundRect">
            <a:avLst/>
          </a:prstGeom>
          <a:solidFill>
            <a:srgbClr val="F0E9DB"/>
          </a:solidFill>
          <a:ln w="1143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228600" rIns="118872" bIns="73152" rtlCol="0" anchor="ctr"/>
          <a:lstStyle/>
          <a:p>
            <a:pPr algn="ctr"/>
            <a:r>
              <a:rPr sz="1320" b="1">
                <a:solidFill>
                  <a:srgbClr val="123F36"/>
                </a:solidFill>
                <a:latin typeface="Georgia"/>
              </a:rPr>
              <a:t>Lawyer Friend</a:t>
            </a:r>
          </a:p>
          <a:p>
            <a:r>
              <a:rPr sz="1080">
                <a:solidFill>
                  <a:srgbClr val="5F584B"/>
                </a:solidFill>
                <a:latin typeface="Aptos"/>
              </a:rPr>
              <a:t>We discussed the incident
with a lawyer friend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37375" y="2231136"/>
            <a:ext cx="2295144" cy="155448"/>
          </a:xfrm>
          <a:prstGeom prst="roundRect">
            <a:avLst/>
          </a:prstGeom>
          <a:solidFill>
            <a:srgbClr val="123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122407" y="3182112"/>
            <a:ext cx="438912" cy="438912"/>
          </a:xfrm>
          <a:prstGeom prst="ellipse">
            <a:avLst/>
          </a:prstGeom>
          <a:solidFill>
            <a:srgbClr val="123F36"/>
          </a:solidFill>
          <a:ln w="1270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8F4EC"/>
                </a:solidFill>
                <a:latin typeface="Georgia"/>
              </a:rPr>
              <a:t>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53728" y="3703320"/>
            <a:ext cx="2331720" cy="1115568"/>
          </a:xfrm>
          <a:prstGeom prst="roundRect">
            <a:avLst/>
          </a:prstGeom>
          <a:solidFill>
            <a:srgbClr val="F0E9DB"/>
          </a:solidFill>
          <a:ln w="1143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228600" rIns="118872" bIns="73152" rtlCol="0" anchor="ctr"/>
          <a:lstStyle/>
          <a:p>
            <a:pPr algn="ctr"/>
            <a:r>
              <a:rPr sz="1320" b="1">
                <a:solidFill>
                  <a:srgbClr val="123F36"/>
                </a:solidFill>
                <a:latin typeface="Georgia"/>
              </a:rPr>
              <a:t>The Realisation</a:t>
            </a:r>
          </a:p>
          <a:p>
            <a:r>
              <a:rPr sz="1080">
                <a:solidFill>
                  <a:srgbClr val="5F584B"/>
                </a:solidFill>
                <a:latin typeface="Aptos"/>
              </a:rPr>
              <a:t>We were blind to the law
we were expected to follow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72015" y="3721607"/>
            <a:ext cx="2295144" cy="155448"/>
          </a:xfrm>
          <a:prstGeom prst="roundRect">
            <a:avLst/>
          </a:prstGeom>
          <a:solidFill>
            <a:srgbClr val="123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816352" y="4983480"/>
            <a:ext cx="6537960" cy="621792"/>
          </a:xfrm>
          <a:prstGeom prst="roundRect">
            <a:avLst/>
          </a:prstGeom>
          <a:solidFill>
            <a:srgbClr val="E7EEE7"/>
          </a:solidFill>
          <a:ln w="1143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54680" y="5129784"/>
            <a:ext cx="5897880" cy="32918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1420" b="1" i="0">
                <a:solidFill>
                  <a:srgbClr val="123F36"/>
                </a:solidFill>
                <a:latin typeface="Georgia"/>
              </a:rPr>
              <a:t>If we struggled to understand the law, how would an ordinary citizen know their rights?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806440"/>
            <a:ext cx="11018520" cy="484632"/>
          </a:xfrm>
          <a:prstGeom prst="roundRect">
            <a:avLst/>
          </a:prstGeom>
          <a:solidFill>
            <a:srgbClr val="123F36"/>
          </a:solidFill>
          <a:ln w="1016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5925312"/>
            <a:ext cx="2240280" cy="1828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1250" b="1" i="0">
                <a:solidFill>
                  <a:srgbClr val="F8F4EC"/>
                </a:solidFill>
                <a:latin typeface="Georgia"/>
              </a:rPr>
              <a:t>Accessible Law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6126480"/>
            <a:ext cx="2240280" cy="14630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860" b="0" i="0">
                <a:solidFill>
                  <a:srgbClr val="E3DAC6"/>
                </a:solidFill>
                <a:latin typeface="Aptos"/>
              </a:rPr>
              <a:t>legal awareness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39" y="5925312"/>
            <a:ext cx="10972" cy="228600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00600" y="5925312"/>
            <a:ext cx="2240280" cy="1828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1250" b="1" i="0">
                <a:solidFill>
                  <a:srgbClr val="F8F4EC"/>
                </a:solidFill>
                <a:latin typeface="Georgia"/>
              </a:rPr>
              <a:t>Informed Citizens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6126480"/>
            <a:ext cx="2240280" cy="14630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860" b="0" i="0">
                <a:solidFill>
                  <a:srgbClr val="E3DAC6"/>
                </a:solidFill>
                <a:latin typeface="Aptos"/>
              </a:rPr>
              <a:t>better decisions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5925312"/>
            <a:ext cx="10972" cy="228600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58200" y="5925312"/>
            <a:ext cx="2240280" cy="18288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1250" b="1" i="0">
                <a:solidFill>
                  <a:srgbClr val="F8F4EC"/>
                </a:solidFill>
                <a:latin typeface="Georgia"/>
              </a:rPr>
              <a:t>Responsible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6126480"/>
            <a:ext cx="2240280" cy="14630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860" b="0" i="0">
                <a:solidFill>
                  <a:srgbClr val="E3DAC6"/>
                </a:solidFill>
                <a:latin typeface="Aptos"/>
              </a:rPr>
              <a:t>support, not replacement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9672"/>
            <a:ext cx="3108960" cy="1554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750" b="1" i="0">
                <a:solidFill>
                  <a:srgbClr val="896021"/>
                </a:solidFill>
                <a:latin typeface="Aptos"/>
              </a:rPr>
              <a:t>NIZAM-E-QANOON  |  FINAL YEAR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6519672"/>
            <a:ext cx="3337560" cy="1554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/>
            <a:r>
              <a:rPr sz="750" b="1" i="0">
                <a:solidFill>
                  <a:srgbClr val="896021"/>
                </a:solidFill>
                <a:latin typeface="Aptos"/>
              </a:rPr>
              <a:t>FROM ONE INCIDENT TO A SOURCE-GROUNDED LEGAL PLATFORM</a:t>
            </a:r>
          </a:p>
        </p:txBody>
      </p:sp>
      <p:sp>
        <p:nvSpPr>
          <p:cNvPr id="11" name="Oval 10"/>
          <p:cNvSpPr/>
          <p:nvPr/>
        </p:nvSpPr>
        <p:spPr>
          <a:xfrm>
            <a:off x="1618488" y="3182112"/>
            <a:ext cx="438912" cy="438912"/>
          </a:xfrm>
          <a:prstGeom prst="ellipse">
            <a:avLst/>
          </a:prstGeom>
          <a:solidFill>
            <a:srgbClr val="123F36"/>
          </a:solidFill>
          <a:ln w="1270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8F4EC"/>
                </a:solidFill>
                <a:latin typeface="Georgia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7287768" y="3182112"/>
            <a:ext cx="438912" cy="438912"/>
          </a:xfrm>
          <a:prstGeom prst="ellipse">
            <a:avLst/>
          </a:prstGeom>
          <a:solidFill>
            <a:srgbClr val="123F36"/>
          </a:solidFill>
          <a:ln w="1270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8F4EC"/>
                </a:solidFill>
                <a:latin typeface="Georgia"/>
              </a:rPr>
              <a:t>03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078999-9EF4-71DF-1973-856770746822}"/>
              </a:ext>
            </a:extLst>
          </p:cNvPr>
          <p:cNvSpPr txBox="1"/>
          <p:nvPr/>
        </p:nvSpPr>
        <p:spPr>
          <a:xfrm>
            <a:off x="11315699" y="6673291"/>
            <a:ext cx="502920" cy="11541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/>
            <a:r>
              <a:rPr lang="en-GB" sz="750" b="1" dirty="0">
                <a:solidFill>
                  <a:srgbClr val="896021"/>
                </a:solidFill>
                <a:latin typeface="Aptos"/>
              </a:rPr>
              <a:t>02</a:t>
            </a:r>
            <a:endParaRPr sz="750" b="1" i="0" dirty="0">
              <a:solidFill>
                <a:srgbClr val="896021"/>
              </a:solidFill>
              <a:latin typeface="Aptos"/>
            </a:endParaRPr>
          </a:p>
        </p:txBody>
      </p:sp>
      <p:sp>
        <p:nvSpPr>
          <p:cNvPr id="38" name="TextBox 35">
            <a:extLst>
              <a:ext uri="{FF2B5EF4-FFF2-40B4-BE49-F238E27FC236}">
                <a16:creationId xmlns:a16="http://schemas.microsoft.com/office/drawing/2014/main" id="{B3C1382E-5EE6-C77A-DD11-20B352799FA7}"/>
              </a:ext>
            </a:extLst>
          </p:cNvPr>
          <p:cNvSpPr txBox="1"/>
          <p:nvPr/>
        </p:nvSpPr>
        <p:spPr>
          <a:xfrm>
            <a:off x="580644" y="1644904"/>
            <a:ext cx="1143000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760" b="1">
                <a:solidFill>
                  <a:srgbClr val="896021"/>
                </a:solidFill>
                <a:latin typeface="Aptos"/>
              </a:rPr>
              <a:t>SDG ALIGNMENT</a:t>
            </a:r>
          </a:p>
        </p:txBody>
      </p:sp>
      <p:sp>
        <p:nvSpPr>
          <p:cNvPr id="39" name="Rounded Rectangle 36">
            <a:extLst>
              <a:ext uri="{FF2B5EF4-FFF2-40B4-BE49-F238E27FC236}">
                <a16:creationId xmlns:a16="http://schemas.microsoft.com/office/drawing/2014/main" id="{0C389C36-18A7-DA11-EAC9-DBD2F617DB2B}"/>
              </a:ext>
            </a:extLst>
          </p:cNvPr>
          <p:cNvSpPr/>
          <p:nvPr/>
        </p:nvSpPr>
        <p:spPr>
          <a:xfrm>
            <a:off x="1668780" y="1608328"/>
            <a:ext cx="1874519" cy="310896"/>
          </a:xfrm>
          <a:prstGeom prst="roundRect">
            <a:avLst/>
          </a:prstGeom>
          <a:solidFill>
            <a:srgbClr val="E7EEE7"/>
          </a:solidFill>
          <a:ln w="8255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18288" rIns="45720" bIns="18288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19" b="1">
                <a:solidFill>
                  <a:srgbClr val="123F36"/>
                </a:solidFill>
                <a:latin typeface="Aptos"/>
              </a:rPr>
              <a:t>SDG 16 · Access to Justice</a:t>
            </a:r>
          </a:p>
        </p:txBody>
      </p:sp>
      <p:sp>
        <p:nvSpPr>
          <p:cNvPr id="40" name="Rounded Rectangle 37">
            <a:extLst>
              <a:ext uri="{FF2B5EF4-FFF2-40B4-BE49-F238E27FC236}">
                <a16:creationId xmlns:a16="http://schemas.microsoft.com/office/drawing/2014/main" id="{392BEE9F-1917-FBC7-1903-4254DF77221A}"/>
              </a:ext>
            </a:extLst>
          </p:cNvPr>
          <p:cNvSpPr/>
          <p:nvPr/>
        </p:nvSpPr>
        <p:spPr>
          <a:xfrm>
            <a:off x="3680460" y="1608328"/>
            <a:ext cx="1874519" cy="310896"/>
          </a:xfrm>
          <a:prstGeom prst="roundRect">
            <a:avLst/>
          </a:prstGeom>
          <a:solidFill>
            <a:srgbClr val="E7EEE7"/>
          </a:solidFill>
          <a:ln w="8255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18288" rIns="45720" bIns="18288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19" b="1">
                <a:solidFill>
                  <a:srgbClr val="896021"/>
                </a:solidFill>
                <a:latin typeface="Aptos"/>
              </a:rPr>
              <a:t>SDG 4 · </a:t>
            </a:r>
            <a:r>
              <a:rPr sz="819" b="1">
                <a:solidFill>
                  <a:srgbClr val="123F36"/>
                </a:solidFill>
                <a:latin typeface="Aptos"/>
              </a:rPr>
              <a:t>Legal Education</a:t>
            </a:r>
          </a:p>
        </p:txBody>
      </p:sp>
      <p:sp>
        <p:nvSpPr>
          <p:cNvPr id="41" name="Rounded Rectangle 38">
            <a:extLst>
              <a:ext uri="{FF2B5EF4-FFF2-40B4-BE49-F238E27FC236}">
                <a16:creationId xmlns:a16="http://schemas.microsoft.com/office/drawing/2014/main" id="{EE47DDF7-8E03-328B-17F8-F0E65CD6A41D}"/>
              </a:ext>
            </a:extLst>
          </p:cNvPr>
          <p:cNvSpPr/>
          <p:nvPr/>
        </p:nvSpPr>
        <p:spPr>
          <a:xfrm>
            <a:off x="5692140" y="1608328"/>
            <a:ext cx="1874519" cy="310896"/>
          </a:xfrm>
          <a:prstGeom prst="roundRect">
            <a:avLst/>
          </a:prstGeom>
          <a:solidFill>
            <a:srgbClr val="E7EEE7"/>
          </a:solidFill>
          <a:ln w="8255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18288" rIns="45720" bIns="18288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19" b="1" dirty="0">
                <a:solidFill>
                  <a:srgbClr val="A04837"/>
                </a:solidFill>
                <a:latin typeface="Aptos"/>
              </a:rPr>
              <a:t>SDG 10 · </a:t>
            </a:r>
            <a:r>
              <a:rPr sz="819" b="1" dirty="0">
                <a:solidFill>
                  <a:srgbClr val="123F36"/>
                </a:solidFill>
                <a:latin typeface="Aptos"/>
              </a:rPr>
              <a:t>Inclusive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8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10896"/>
            <a:ext cx="11201400" cy="16459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483096"/>
            <a:ext cx="11201400" cy="16459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3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75488"/>
            <a:ext cx="320040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900" b="1" i="0">
                <a:solidFill>
                  <a:srgbClr val="896021"/>
                </a:solidFill>
                <a:latin typeface="Aptos"/>
              </a:rPr>
              <a:t>PROBLEM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5440" y="475488"/>
            <a:ext cx="233172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/>
            <a:r>
              <a:rPr sz="850" b="0" i="0">
                <a:solidFill>
                  <a:srgbClr val="896021"/>
                </a:solidFill>
                <a:latin typeface="Aptos"/>
              </a:rPr>
              <a:t>LAW  |  INFORMATION  | 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7863840" cy="50292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2500" b="1" i="0">
                <a:solidFill>
                  <a:srgbClr val="123F36"/>
                </a:solidFill>
                <a:latin typeface="Georgia"/>
              </a:rPr>
              <a:t>The real problem: legal information overload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344168"/>
            <a:ext cx="7315200" cy="3474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1250" b="0" i="0">
                <a:solidFill>
                  <a:srgbClr val="5C574C"/>
                </a:solidFill>
                <a:latin typeface="Aptos"/>
              </a:rPr>
              <a:t>Our lawyer friend helped us see that the gap is not only for citizens — it affects the whole legal ecosystem.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822960"/>
            <a:ext cx="2514600" cy="694944"/>
          </a:xfrm>
          <a:prstGeom prst="roundRect">
            <a:avLst/>
          </a:prstGeom>
          <a:solidFill>
            <a:srgbClr val="123F36"/>
          </a:solidFill>
          <a:ln w="1270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8F4EC"/>
                </a:solidFill>
                <a:latin typeface="Georgia"/>
              </a:rPr>
              <a:t>Need: Reliable + Intelligent
Legal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38528"/>
            <a:ext cx="10835640" cy="987552"/>
          </a:xfrm>
          <a:prstGeom prst="roundRect">
            <a:avLst/>
          </a:prstGeom>
          <a:solidFill>
            <a:srgbClr val="FCF9F2"/>
          </a:solidFill>
          <a:ln w="13970">
            <a:solidFill>
              <a:srgbClr val="D9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1832" y="2084832"/>
            <a:ext cx="2423160" cy="694944"/>
          </a:xfrm>
          <a:prstGeom prst="roundRect">
            <a:avLst/>
          </a:prstGeom>
          <a:solidFill>
            <a:srgbClr val="123F36"/>
          </a:solidFill>
          <a:ln>
            <a:solidFill>
              <a:srgbClr val="123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8F4EC"/>
                </a:solidFill>
                <a:latin typeface="Georgia"/>
              </a:rPr>
              <a:t>2.26M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30552"/>
            <a:ext cx="6126480" cy="21031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1400" b="1" i="0">
                <a:solidFill>
                  <a:srgbClr val="123F36"/>
                </a:solidFill>
                <a:latin typeface="Aptos"/>
              </a:rPr>
              <a:t>pending cases in Pakistani courts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14016"/>
            <a:ext cx="658368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1080" b="0" i="0">
                <a:solidFill>
                  <a:srgbClr val="5C574C"/>
                </a:solidFill>
                <a:latin typeface="Aptos"/>
              </a:rPr>
              <a:t>High volume creates pressure across the justice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97480"/>
            <a:ext cx="5029200" cy="14630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730" b="0" i="1">
                <a:solidFill>
                  <a:srgbClr val="896021"/>
                </a:solidFill>
                <a:latin typeface="Aptos"/>
              </a:rPr>
              <a:t>Law &amp; Justice Commission / Dawn, 2024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73552"/>
            <a:ext cx="10835640" cy="987552"/>
          </a:xfrm>
          <a:prstGeom prst="roundRect">
            <a:avLst/>
          </a:prstGeom>
          <a:solidFill>
            <a:srgbClr val="FCF9F2"/>
          </a:solidFill>
          <a:ln w="13970">
            <a:solidFill>
              <a:srgbClr val="D9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41832" y="3419856"/>
            <a:ext cx="2423160" cy="694944"/>
          </a:xfrm>
          <a:prstGeom prst="roundRect">
            <a:avLst/>
          </a:prstGeom>
          <a:solidFill>
            <a:srgbClr val="123F36"/>
          </a:solidFill>
          <a:ln>
            <a:solidFill>
              <a:srgbClr val="123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8F4EC"/>
                </a:solidFill>
                <a:latin typeface="Georgia"/>
              </a:rPr>
              <a:t>58%+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465576"/>
            <a:ext cx="6126480" cy="21031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1400" b="1" i="0">
                <a:solidFill>
                  <a:srgbClr val="123F36"/>
                </a:solidFill>
                <a:latin typeface="Aptos"/>
              </a:rPr>
              <a:t>legal hallucination risk in public LLMs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749039"/>
            <a:ext cx="658368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1080" b="0" i="0">
                <a:solidFill>
                  <a:srgbClr val="5C574C"/>
                </a:solidFill>
                <a:latin typeface="Aptos"/>
              </a:rPr>
              <a:t>Generic AI can produce unsupported legal answers and fake legal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032504"/>
            <a:ext cx="5029200" cy="14630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730" b="0" i="1">
                <a:solidFill>
                  <a:srgbClr val="896021"/>
                </a:solidFill>
                <a:latin typeface="Aptos"/>
              </a:rPr>
              <a:t>Dahl et al., Journal of Legal Analysis, 2024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08576"/>
            <a:ext cx="10835640" cy="987552"/>
          </a:xfrm>
          <a:prstGeom prst="roundRect">
            <a:avLst/>
          </a:prstGeom>
          <a:solidFill>
            <a:srgbClr val="FCF9F2"/>
          </a:solidFill>
          <a:ln w="13970">
            <a:solidFill>
              <a:srgbClr val="D9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41832" y="4754880"/>
            <a:ext cx="2423160" cy="694944"/>
          </a:xfrm>
          <a:prstGeom prst="roundRect">
            <a:avLst/>
          </a:prstGeom>
          <a:solidFill>
            <a:srgbClr val="123F36"/>
          </a:solidFill>
          <a:ln>
            <a:solidFill>
              <a:srgbClr val="123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8F4EC"/>
                </a:solidFill>
                <a:latin typeface="Georgia"/>
              </a:rPr>
              <a:t>Complex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800600"/>
            <a:ext cx="6126480" cy="21031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1400" b="1" i="0">
                <a:solidFill>
                  <a:srgbClr val="123F36"/>
                </a:solidFill>
                <a:latin typeface="Aptos"/>
              </a:rPr>
              <a:t>laws, precedents and case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084064"/>
            <a:ext cx="658368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1080" b="0" i="0">
                <a:solidFill>
                  <a:srgbClr val="5C574C"/>
                </a:solidFill>
                <a:latin typeface="Aptos"/>
              </a:rPr>
              <a:t>Lawyers and judges must connect statutes, cases, facts and procedures under time pressure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367528"/>
            <a:ext cx="5029200" cy="14630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730" b="0" i="1">
                <a:solidFill>
                  <a:srgbClr val="896021"/>
                </a:solidFill>
                <a:latin typeface="Aptos"/>
              </a:rPr>
              <a:t>Project observation + legal consultation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870448"/>
            <a:ext cx="10835640" cy="384048"/>
          </a:xfrm>
          <a:prstGeom prst="roundRect">
            <a:avLst/>
          </a:prstGeom>
          <a:solidFill>
            <a:srgbClr val="1F5B4D"/>
          </a:solidFill>
          <a:ln w="1016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5980176"/>
            <a:ext cx="10241280" cy="16459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1150" b="1" i="0">
                <a:solidFill>
                  <a:srgbClr val="F8F4EC"/>
                </a:solidFill>
                <a:latin typeface="Aptos"/>
              </a:rPr>
              <a:t>Backlog + legal complexity + AI hallucination risk  →  the need for a verified, source-grounded legal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9672"/>
            <a:ext cx="2743200" cy="1554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750" b="1" i="0">
                <a:solidFill>
                  <a:srgbClr val="896021"/>
                </a:solidFill>
                <a:latin typeface="Aptos"/>
              </a:rPr>
              <a:t>NIZAM-E-QANOON  |  FINAL YEAR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519672"/>
            <a:ext cx="502920" cy="1554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/>
            <a:r>
              <a:rPr sz="750" b="1" i="0" dirty="0">
                <a:solidFill>
                  <a:srgbClr val="896021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 w="12700">
            <a:solidFill>
              <a:srgbClr val="F3EF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17352E"/>
          </a:solidFill>
          <a:ln w="12700">
            <a:solidFill>
              <a:srgbClr val="1735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21792" y="7132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B887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PRODUCT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1280160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900" b="1" dirty="0">
                <a:solidFill>
                  <a:srgbClr val="F8F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Nizam-e-Qanoon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30936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0E4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نظامِ قانون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359152"/>
            <a:ext cx="2240280" cy="0"/>
          </a:xfrm>
          <a:prstGeom prst="line">
            <a:avLst/>
          </a:prstGeom>
          <a:noFill/>
          <a:ln w="25400">
            <a:solidFill>
              <a:srgbClr val="B887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0080" y="27249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900" b="1" dirty="0">
                <a:solidFill>
                  <a:srgbClr val="F8F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Pakistan’s mobile legal access platform.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3712464"/>
            <a:ext cx="2395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dirty="0">
                <a:solidFill>
                  <a:srgbClr val="DFE7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around official laws, not unsupported AI answers.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0E4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• bilingual • practical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33088" y="621792"/>
            <a:ext cx="2423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A03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FEATURE MAP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0" y="932688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b="1" dirty="0">
                <a:solidFill>
                  <a:srgbClr val="1735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users can do in the app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133088" y="1664208"/>
            <a:ext cx="7223760" cy="402336"/>
          </a:xfrm>
          <a:prstGeom prst="rect">
            <a:avLst/>
          </a:prstGeom>
          <a:solidFill>
            <a:srgbClr val="F0E4CB"/>
          </a:solidFill>
          <a:ln w="12700">
            <a:solidFill>
              <a:srgbClr val="F0E4C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230" b="1" dirty="0">
                <a:solidFill>
                  <a:srgbClr val="1735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LAYER  ·  Structured legal database from official Pakistani sources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4151376" y="2450592"/>
            <a:ext cx="3154680" cy="1170432"/>
          </a:xfrm>
          <a:prstGeom prst="rect">
            <a:avLst/>
          </a:prstGeom>
          <a:solidFill>
            <a:srgbClr val="FBF8F1"/>
          </a:solidFill>
          <a:ln w="12700">
            <a:solidFill>
              <a:srgbClr val="DFD8C8"/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00" b="1" dirty="0">
                <a:solidFill>
                  <a:srgbClr val="1735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01</a:t>
            </a:r>
            <a:endParaRPr lang="en-US" sz="16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1600" b="1" dirty="0">
                <a:solidFill>
                  <a:srgbClr val="1735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LEGAL LIBRARY SEARCH</a:t>
            </a:r>
            <a:endParaRPr lang="en-US" sz="16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1600" b="1" dirty="0">
                <a:solidFill>
                  <a:srgbClr val="1735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Laws + Constitution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82128" y="2450592"/>
            <a:ext cx="3154680" cy="1170432"/>
          </a:xfrm>
          <a:prstGeom prst="rect">
            <a:avLst/>
          </a:prstGeom>
          <a:solidFill>
            <a:srgbClr val="17352E"/>
          </a:solidFill>
          <a:ln w="12700">
            <a:solidFill>
              <a:srgbClr val="B8873C"/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00" b="1" dirty="0">
                <a:solidFill>
                  <a:srgbClr val="F8F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02</a:t>
            </a:r>
            <a:endParaRPr lang="en-US" sz="16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1600" b="1" dirty="0">
                <a:solidFill>
                  <a:srgbClr val="F8F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AI LEGAL ASSISTANT</a:t>
            </a:r>
            <a:endParaRPr lang="en-US" sz="16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1600" b="1" dirty="0">
                <a:solidFill>
                  <a:srgbClr val="F8F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Natural-language queries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51376" y="4078224"/>
            <a:ext cx="3154680" cy="1170432"/>
          </a:xfrm>
          <a:prstGeom prst="rect">
            <a:avLst/>
          </a:prstGeom>
          <a:solidFill>
            <a:srgbClr val="1F4840"/>
          </a:solidFill>
          <a:ln w="12700">
            <a:solidFill>
              <a:srgbClr val="1F4840"/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00" b="1" dirty="0">
                <a:solidFill>
                  <a:srgbClr val="F8F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03</a:t>
            </a:r>
            <a:endParaRPr lang="en-US" sz="16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1600" b="1" dirty="0">
                <a:solidFill>
                  <a:srgbClr val="F8F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LATEX DOCUMENT BUILDER</a:t>
            </a:r>
            <a:endParaRPr lang="en-US" sz="16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1600" b="1" dirty="0">
                <a:solidFill>
                  <a:srgbClr val="F8F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Official templates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882128" y="4078224"/>
            <a:ext cx="3154680" cy="1170432"/>
          </a:xfrm>
          <a:prstGeom prst="rect">
            <a:avLst/>
          </a:prstGeom>
          <a:solidFill>
            <a:srgbClr val="FBF8F1"/>
          </a:solidFill>
          <a:ln w="12700">
            <a:solidFill>
              <a:srgbClr val="DFD8C8"/>
            </a:solidFill>
          </a:ln>
        </p:spPr>
        <p:txBody>
          <a:bodyPr wrap="square" lIns="2540" tIns="2540" rIns="2540" bIns="2540" rtlCol="0" anchor="ctr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600" b="1" dirty="0">
                <a:solidFill>
                  <a:srgbClr val="1735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04</a:t>
            </a:r>
            <a:endParaRPr lang="en-US" sz="16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1600" b="1" dirty="0">
                <a:solidFill>
                  <a:srgbClr val="1735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MOCK TRIAL PRACTICE</a:t>
            </a:r>
            <a:endParaRPr lang="en-US" sz="1600" dirty="0"/>
          </a:p>
          <a:p>
            <a:pPr marL="0" indent="0" algn="l">
              <a:lnSpc>
                <a:spcPct val="88000"/>
              </a:lnSpc>
              <a:buNone/>
            </a:pPr>
            <a:r>
              <a:rPr lang="en-US" sz="1600" b="1" dirty="0">
                <a:solidFill>
                  <a:srgbClr val="1735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Courtroom scenarios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60520" y="5815584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550" b="1" dirty="0">
                <a:solidFill>
                  <a:srgbClr val="1735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verified corpus powers all four services.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4160520" y="6199632"/>
            <a:ext cx="6912864" cy="0"/>
          </a:xfrm>
          <a:prstGeom prst="line">
            <a:avLst/>
          </a:prstGeom>
          <a:noFill/>
          <a:ln w="12700">
            <a:solidFill>
              <a:srgbClr val="DFD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1356848" y="636422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900" dirty="0">
                <a:solidFill>
                  <a:srgbClr val="5A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zam_e_qanoon_technical_structure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0D50D9D4-32FA-4AEA-69C7-015704040423}"/>
              </a:ext>
            </a:extLst>
          </p:cNvPr>
          <p:cNvSpPr/>
          <p:nvPr/>
        </p:nvSpPr>
        <p:spPr>
          <a:xfrm>
            <a:off x="9232490" y="6066504"/>
            <a:ext cx="2861187" cy="235973"/>
          </a:xfrm>
          <a:prstGeom prst="roundRect">
            <a:avLst/>
          </a:prstGeom>
          <a:solidFill>
            <a:srgbClr val="FBF8F1"/>
          </a:solidFill>
          <a:ln w="15240">
            <a:solidFill>
              <a:srgbClr val="B88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18872" tIns="18288" rIns="118872" bIns="18288" rtlCol="0" anchor="ctr"/>
          <a:lstStyle/>
          <a:p>
            <a:pPr algn="ctr"/>
            <a:r>
              <a:rPr sz="900" b="1" dirty="0">
                <a:solidFill>
                  <a:srgbClr val="17352E"/>
                </a:solidFill>
                <a:latin typeface="Georgia"/>
              </a:rPr>
              <a:t>PostgreSQL → SQLite Sync</a:t>
            </a:r>
            <a:r>
              <a:rPr sz="900" dirty="0">
                <a:solidFill>
                  <a:srgbClr val="8A6216"/>
                </a:solidFill>
                <a:latin typeface="Georgia"/>
              </a:rPr>
              <a:t>  — offline law pack</a:t>
            </a:r>
          </a:p>
        </p:txBody>
      </p:sp>
      <p:sp>
        <p:nvSpPr>
          <p:cNvPr id="6" name="Text 18">
            <a:extLst>
              <a:ext uri="{FF2B5EF4-FFF2-40B4-BE49-F238E27FC236}">
                <a16:creationId xmlns:a16="http://schemas.microsoft.com/office/drawing/2014/main" id="{A03003EA-A9F1-318D-8776-5BFD551B584C}"/>
              </a:ext>
            </a:extLst>
          </p:cNvPr>
          <p:cNvSpPr/>
          <p:nvPr/>
        </p:nvSpPr>
        <p:spPr>
          <a:xfrm>
            <a:off x="11475720" y="6610030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900" dirty="0">
                <a:solidFill>
                  <a:srgbClr val="5A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7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10896"/>
            <a:ext cx="11155680" cy="16459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6473952"/>
            <a:ext cx="11155680" cy="16459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3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75488"/>
            <a:ext cx="420624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900" b="1" i="0">
                <a:solidFill>
                  <a:srgbClr val="896021"/>
                </a:solidFill>
                <a:latin typeface="Aptos"/>
              </a:rPr>
              <a:t>SDLC WORKFLOW  ·  LAYER-WISE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475488"/>
            <a:ext cx="2743200" cy="2286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/>
            <a:r>
              <a:rPr sz="850" b="0" i="0">
                <a:solidFill>
                  <a:srgbClr val="896021"/>
                </a:solidFill>
                <a:latin typeface="Aptos"/>
              </a:rPr>
              <a:t>ITERATIVE  |  INCREMENTAL  | 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8595360" cy="5943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2500" b="1" i="0">
                <a:solidFill>
                  <a:srgbClr val="123F36"/>
                </a:solidFill>
                <a:latin typeface="Georgia"/>
              </a:rPr>
              <a:t>SDLC — From Legal Sources to Mobile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371600"/>
            <a:ext cx="7223760" cy="3200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1280" b="0" i="0">
                <a:solidFill>
                  <a:srgbClr val="5D574B"/>
                </a:solidFill>
                <a:latin typeface="Aptos"/>
              </a:rPr>
              <a:t>Build the foundation first, verify each layer, then move to the next.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83080"/>
            <a:ext cx="5212080" cy="329184"/>
          </a:xfrm>
          <a:prstGeom prst="roundRect">
            <a:avLst/>
          </a:prstGeom>
          <a:solidFill>
            <a:srgbClr val="123F36"/>
          </a:solidFill>
          <a:ln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865376"/>
            <a:ext cx="4882896" cy="1188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900" b="1" i="0">
                <a:solidFill>
                  <a:srgbClr val="F8F4EC"/>
                </a:solidFill>
                <a:latin typeface="Aptos"/>
              </a:rPr>
              <a:t>DATA FOUNDATION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83080"/>
            <a:ext cx="5230368" cy="329184"/>
          </a:xfrm>
          <a:prstGeom prst="roundRect">
            <a:avLst/>
          </a:prstGeom>
          <a:solidFill>
            <a:srgbClr val="123F36"/>
          </a:solidFill>
          <a:ln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55664" y="1865376"/>
            <a:ext cx="4901183" cy="118872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900" b="1" i="0">
                <a:solidFill>
                  <a:srgbClr val="F8F4EC"/>
                </a:solidFill>
                <a:latin typeface="Aptos"/>
              </a:rPr>
              <a:t>AI + SERVICES +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7248" y="2825496"/>
            <a:ext cx="347472" cy="36576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Triangle 13"/>
          <p:cNvSpPr/>
          <p:nvPr/>
        </p:nvSpPr>
        <p:spPr>
          <a:xfrm>
            <a:off x="3429000" y="2752344"/>
            <a:ext cx="164592" cy="164592"/>
          </a:xfrm>
          <a:prstGeom prst="rtTriangle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53328" y="2825496"/>
            <a:ext cx="347472" cy="36576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Triangle 15"/>
          <p:cNvSpPr/>
          <p:nvPr/>
        </p:nvSpPr>
        <p:spPr>
          <a:xfrm>
            <a:off x="6355080" y="2752344"/>
            <a:ext cx="164592" cy="164592"/>
          </a:xfrm>
          <a:prstGeom prst="rtTriangle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79408" y="2825496"/>
            <a:ext cx="347472" cy="36576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Triangle 17"/>
          <p:cNvSpPr/>
          <p:nvPr/>
        </p:nvSpPr>
        <p:spPr>
          <a:xfrm>
            <a:off x="9281160" y="2752344"/>
            <a:ext cx="164592" cy="164592"/>
          </a:xfrm>
          <a:prstGeom prst="rtTriangle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652760" y="3621024"/>
            <a:ext cx="36576" cy="502920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99831" y="4443984"/>
            <a:ext cx="384048" cy="36576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Triangle 20"/>
          <p:cNvSpPr/>
          <p:nvPr/>
        </p:nvSpPr>
        <p:spPr>
          <a:xfrm rot="10800000">
            <a:off x="7744967" y="4370832"/>
            <a:ext cx="164592" cy="164592"/>
          </a:xfrm>
          <a:prstGeom prst="rtTriangle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73752" y="4443984"/>
            <a:ext cx="384048" cy="36576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Triangle 22"/>
          <p:cNvSpPr/>
          <p:nvPr/>
        </p:nvSpPr>
        <p:spPr>
          <a:xfrm rot="10800000">
            <a:off x="4818888" y="4370832"/>
            <a:ext cx="164592" cy="164592"/>
          </a:xfrm>
          <a:prstGeom prst="rtTriangle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85800" y="2240280"/>
            <a:ext cx="2514600" cy="1417320"/>
          </a:xfrm>
          <a:prstGeom prst="roundRect">
            <a:avLst/>
          </a:prstGeom>
          <a:solidFill>
            <a:srgbClr val="FBF9F2"/>
          </a:solidFill>
          <a:ln w="1143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04088" y="2258568"/>
            <a:ext cx="2478024" cy="164592"/>
          </a:xfrm>
          <a:prstGeom prst="rect">
            <a:avLst/>
          </a:prstGeom>
          <a:solidFill>
            <a:srgbClr val="123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32104" y="2514600"/>
            <a:ext cx="457200" cy="457200"/>
          </a:xfrm>
          <a:prstGeom prst="ellipse">
            <a:avLst/>
          </a:prstGeom>
          <a:solidFill>
            <a:srgbClr val="123F36"/>
          </a:solidFill>
          <a:ln w="1270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8F4EC"/>
                </a:solidFill>
                <a:latin typeface="Georgia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532888"/>
            <a:ext cx="1645920" cy="2926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1400" b="1" i="0">
                <a:solidFill>
                  <a:srgbClr val="123F36"/>
                </a:solidFill>
                <a:latin typeface="Georgia"/>
              </a:rPr>
              <a:t>Official 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2971800"/>
            <a:ext cx="2112264" cy="3657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960" b="0" i="0">
                <a:solidFill>
                  <a:srgbClr val="5D574B"/>
                </a:solidFill>
                <a:latin typeface="Aptos"/>
              </a:rPr>
              <a:t>Extract PDFs / HTML from official Pakistani law sites.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6968" y="3346704"/>
            <a:ext cx="2112264" cy="201168"/>
          </a:xfrm>
          <a:prstGeom prst="roundRect">
            <a:avLst/>
          </a:prstGeom>
          <a:solidFill>
            <a:srgbClr val="F1ECE2"/>
          </a:solidFill>
          <a:ln w="889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3392424"/>
            <a:ext cx="2057400" cy="914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730" b="1" i="0">
                <a:solidFill>
                  <a:srgbClr val="896021"/>
                </a:solidFill>
                <a:latin typeface="Aptos"/>
              </a:rPr>
              <a:t>source documents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11880" y="2240280"/>
            <a:ext cx="2514600" cy="1417320"/>
          </a:xfrm>
          <a:prstGeom prst="roundRect">
            <a:avLst/>
          </a:prstGeom>
          <a:solidFill>
            <a:srgbClr val="FBF9F2"/>
          </a:solidFill>
          <a:ln w="1143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30168" y="2258568"/>
            <a:ext cx="2478024" cy="164592"/>
          </a:xfrm>
          <a:prstGeom prst="rect">
            <a:avLst/>
          </a:prstGeom>
          <a:solidFill>
            <a:srgbClr val="215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758184" y="2514600"/>
            <a:ext cx="457200" cy="457200"/>
          </a:xfrm>
          <a:prstGeom prst="ellipse">
            <a:avLst/>
          </a:prstGeom>
          <a:solidFill>
            <a:srgbClr val="123F36"/>
          </a:solidFill>
          <a:ln w="1270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8F4EC"/>
                </a:solidFill>
                <a:latin typeface="Georgia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2532888"/>
            <a:ext cx="1645920" cy="2926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1400" b="1" i="0">
                <a:solidFill>
                  <a:srgbClr val="123F36"/>
                </a:solidFill>
                <a:latin typeface="Georgia"/>
              </a:rPr>
              <a:t>Extract + OCR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3048" y="2971800"/>
            <a:ext cx="2112264" cy="3657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960" b="0" i="0">
                <a:solidFill>
                  <a:srgbClr val="5D574B"/>
                </a:solidFill>
                <a:latin typeface="Aptos"/>
              </a:rPr>
              <a:t>PyMuPDF for digital PDFs; Tesseract + Surya for scans and Urdu.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13048" y="3346704"/>
            <a:ext cx="2112264" cy="201168"/>
          </a:xfrm>
          <a:prstGeom prst="roundRect">
            <a:avLst/>
          </a:prstGeom>
          <a:solidFill>
            <a:srgbClr val="F1ECE2"/>
          </a:solidFill>
          <a:ln w="889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40480" y="3392424"/>
            <a:ext cx="2057400" cy="914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730" b="1" i="0">
                <a:solidFill>
                  <a:srgbClr val="896021"/>
                </a:solidFill>
                <a:latin typeface="Aptos"/>
              </a:rPr>
              <a:t>text + page anchors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37960" y="2240280"/>
            <a:ext cx="2514600" cy="1417320"/>
          </a:xfrm>
          <a:prstGeom prst="roundRect">
            <a:avLst/>
          </a:prstGeom>
          <a:solidFill>
            <a:srgbClr val="FBF9F2"/>
          </a:solidFill>
          <a:ln w="1143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56248" y="2258568"/>
            <a:ext cx="2478024" cy="164592"/>
          </a:xfrm>
          <a:prstGeom prst="rect">
            <a:avLst/>
          </a:prstGeom>
          <a:solidFill>
            <a:srgbClr val="123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684264" y="2514600"/>
            <a:ext cx="457200" cy="457200"/>
          </a:xfrm>
          <a:prstGeom prst="ellipse">
            <a:avLst/>
          </a:prstGeom>
          <a:solidFill>
            <a:srgbClr val="123F36"/>
          </a:solidFill>
          <a:ln w="1270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8F4EC"/>
                </a:solidFill>
                <a:latin typeface="Georgia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2532888"/>
            <a:ext cx="1645920" cy="2926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1400" b="1" i="0">
                <a:solidFill>
                  <a:srgbClr val="123F36"/>
                </a:solidFill>
                <a:latin typeface="Georgia"/>
              </a:rPr>
              <a:t>Clean + Segment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39128" y="2971800"/>
            <a:ext cx="2112264" cy="3657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960" b="0" i="0">
                <a:solidFill>
                  <a:srgbClr val="5D574B"/>
                </a:solidFill>
                <a:latin typeface="Aptos"/>
              </a:rPr>
              <a:t>Normalize text and parse Acts into sections, clauses and schedules.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39128" y="3346704"/>
            <a:ext cx="2112264" cy="201168"/>
          </a:xfrm>
          <a:prstGeom prst="roundRect">
            <a:avLst/>
          </a:prstGeom>
          <a:solidFill>
            <a:srgbClr val="F1ECE2"/>
          </a:solidFill>
          <a:ln w="889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66560" y="3392424"/>
            <a:ext cx="2057400" cy="914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730" b="1" i="0">
                <a:solidFill>
                  <a:srgbClr val="896021"/>
                </a:solidFill>
                <a:latin typeface="Aptos"/>
              </a:rPr>
              <a:t>structured legal corpus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64040" y="2240280"/>
            <a:ext cx="2514600" cy="1417320"/>
          </a:xfrm>
          <a:prstGeom prst="roundRect">
            <a:avLst/>
          </a:prstGeom>
          <a:solidFill>
            <a:srgbClr val="FBF9F2"/>
          </a:solidFill>
          <a:ln w="1143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482328" y="2258568"/>
            <a:ext cx="2478024" cy="164592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610344" y="2514600"/>
            <a:ext cx="457200" cy="457200"/>
          </a:xfrm>
          <a:prstGeom prst="ellipse">
            <a:avLst/>
          </a:prstGeom>
          <a:solidFill>
            <a:srgbClr val="123F36"/>
          </a:solidFill>
          <a:ln w="1270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8F4EC"/>
                </a:solidFill>
                <a:latin typeface="Georgia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2532888"/>
            <a:ext cx="1645920" cy="2926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1400" b="1" i="0">
                <a:solidFill>
                  <a:srgbClr val="123F36"/>
                </a:solidFill>
                <a:latin typeface="Georgia"/>
              </a:rPr>
              <a:t>Index + Embed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65208" y="2971800"/>
            <a:ext cx="2112264" cy="3657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960" b="0" i="0">
                <a:solidFill>
                  <a:srgbClr val="5D574B"/>
                </a:solidFill>
                <a:latin typeface="Aptos"/>
              </a:rPr>
              <a:t>Make law searchable using BM25 and semantic embeddings.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65208" y="3346704"/>
            <a:ext cx="2112264" cy="201168"/>
          </a:xfrm>
          <a:prstGeom prst="roundRect">
            <a:avLst/>
          </a:prstGeom>
          <a:solidFill>
            <a:srgbClr val="F1ECE2"/>
          </a:solidFill>
          <a:ln w="889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692640" y="3392424"/>
            <a:ext cx="2057400" cy="914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730" b="1" i="0">
                <a:solidFill>
                  <a:srgbClr val="896021"/>
                </a:solidFill>
                <a:latin typeface="Aptos"/>
              </a:rPr>
              <a:t>retrieval-ready data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423160" y="3886200"/>
            <a:ext cx="2651760" cy="1417320"/>
          </a:xfrm>
          <a:prstGeom prst="roundRect">
            <a:avLst/>
          </a:prstGeom>
          <a:solidFill>
            <a:srgbClr val="FBF9F2"/>
          </a:solidFill>
          <a:ln w="1143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441448" y="3904487"/>
            <a:ext cx="2615184" cy="164592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569464" y="4160520"/>
            <a:ext cx="457200" cy="457200"/>
          </a:xfrm>
          <a:prstGeom prst="ellipse">
            <a:avLst/>
          </a:prstGeom>
          <a:solidFill>
            <a:srgbClr val="123F36"/>
          </a:solidFill>
          <a:ln w="1270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8F4EC"/>
                </a:solidFill>
                <a:latin typeface="Georgia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08960" y="4178808"/>
            <a:ext cx="1783080" cy="2926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1400" b="1" i="0">
                <a:solidFill>
                  <a:srgbClr val="123F36"/>
                </a:solidFill>
                <a:latin typeface="Georgia"/>
              </a:rPr>
              <a:t>Legal AI Layer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24328" y="4617720"/>
            <a:ext cx="2249424" cy="3657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960" b="0" i="0">
                <a:solidFill>
                  <a:srgbClr val="5D574B"/>
                </a:solidFill>
                <a:latin typeface="Aptos"/>
              </a:rPr>
              <a:t>Use RAG and a planned LoRA-adapted legal model.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624328" y="4992624"/>
            <a:ext cx="2249424" cy="201168"/>
          </a:xfrm>
          <a:prstGeom prst="roundRect">
            <a:avLst/>
          </a:prstGeom>
          <a:solidFill>
            <a:srgbClr val="F1ECE2"/>
          </a:solidFill>
          <a:ln w="889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651760" y="5038344"/>
            <a:ext cx="2194560" cy="914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730" b="1" i="0">
                <a:solidFill>
                  <a:srgbClr val="896021"/>
                </a:solidFill>
                <a:latin typeface="Aptos"/>
              </a:rPr>
              <a:t>source-grounded assistant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40680" y="3886200"/>
            <a:ext cx="2651760" cy="1417320"/>
          </a:xfrm>
          <a:prstGeom prst="roundRect">
            <a:avLst/>
          </a:prstGeom>
          <a:solidFill>
            <a:srgbClr val="FBF9F2"/>
          </a:solidFill>
          <a:ln w="1143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458968" y="3904487"/>
            <a:ext cx="2615184" cy="164592"/>
          </a:xfrm>
          <a:prstGeom prst="rect">
            <a:avLst/>
          </a:prstGeom>
          <a:solidFill>
            <a:srgbClr val="215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5586984" y="4160520"/>
            <a:ext cx="457200" cy="457200"/>
          </a:xfrm>
          <a:prstGeom prst="ellipse">
            <a:avLst/>
          </a:prstGeom>
          <a:solidFill>
            <a:srgbClr val="123F36"/>
          </a:solidFill>
          <a:ln w="1270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8F4EC"/>
                </a:solidFill>
                <a:latin typeface="Georgia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0" y="4178808"/>
            <a:ext cx="1783080" cy="2926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1400" b="1" i="0">
                <a:solidFill>
                  <a:srgbClr val="123F36"/>
                </a:solidFill>
                <a:latin typeface="Georgia"/>
              </a:rPr>
              <a:t>Backend + APIs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41848" y="4617720"/>
            <a:ext cx="2249424" cy="3657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960" b="0" i="0">
                <a:solidFill>
                  <a:srgbClr val="5D574B"/>
                </a:solidFill>
                <a:latin typeface="Aptos"/>
              </a:rPr>
              <a:t>Python / FastAPI handles business logic, services and integration.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41848" y="4992624"/>
            <a:ext cx="2249424" cy="201168"/>
          </a:xfrm>
          <a:prstGeom prst="roundRect">
            <a:avLst/>
          </a:prstGeom>
          <a:solidFill>
            <a:srgbClr val="F1ECE2"/>
          </a:solidFill>
          <a:ln w="889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669280" y="5038344"/>
            <a:ext cx="2194560" cy="914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730" b="1" i="0">
                <a:solidFill>
                  <a:srgbClr val="896021"/>
                </a:solidFill>
                <a:latin typeface="Aptos"/>
              </a:rPr>
              <a:t>service layer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458200" y="3886200"/>
            <a:ext cx="2651760" cy="1417320"/>
          </a:xfrm>
          <a:prstGeom prst="roundRect">
            <a:avLst/>
          </a:prstGeom>
          <a:solidFill>
            <a:srgbClr val="FBF9F2"/>
          </a:solidFill>
          <a:ln w="1143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476488" y="3904487"/>
            <a:ext cx="2615184" cy="164592"/>
          </a:xfrm>
          <a:prstGeom prst="rect">
            <a:avLst/>
          </a:prstGeom>
          <a:solidFill>
            <a:srgbClr val="123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8604504" y="4160520"/>
            <a:ext cx="457200" cy="457200"/>
          </a:xfrm>
          <a:prstGeom prst="ellipse">
            <a:avLst/>
          </a:prstGeom>
          <a:solidFill>
            <a:srgbClr val="123F36"/>
          </a:solidFill>
          <a:ln w="1270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8F4EC"/>
                </a:solidFill>
                <a:latin typeface="Georgia"/>
              </a:rPr>
              <a:t>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44000" y="4178808"/>
            <a:ext cx="1783080" cy="29260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1400" b="1" i="0">
                <a:solidFill>
                  <a:srgbClr val="123F36"/>
                </a:solidFill>
                <a:latin typeface="Georgia"/>
              </a:rPr>
              <a:t>Flutter App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59368" y="4617720"/>
            <a:ext cx="2249424" cy="3657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960" b="0" i="0">
                <a:solidFill>
                  <a:srgbClr val="5D574B"/>
                </a:solidFill>
                <a:latin typeface="Aptos"/>
              </a:rPr>
              <a:t>Cross-platform mobile UI for search, assistant, docs and offline law.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659368" y="4992624"/>
            <a:ext cx="2249424" cy="201168"/>
          </a:xfrm>
          <a:prstGeom prst="roundRect">
            <a:avLst/>
          </a:prstGeom>
          <a:solidFill>
            <a:srgbClr val="F1ECE2"/>
          </a:solidFill>
          <a:ln w="889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686800" y="5038344"/>
            <a:ext cx="2194560" cy="914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730" b="1" i="0">
                <a:solidFill>
                  <a:srgbClr val="896021"/>
                </a:solidFill>
                <a:latin typeface="Aptos"/>
              </a:rPr>
              <a:t>user-facing app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77240" y="5513832"/>
            <a:ext cx="2057400" cy="310896"/>
          </a:xfrm>
          <a:prstGeom prst="roundRect">
            <a:avLst/>
          </a:prstGeom>
          <a:solidFill>
            <a:srgbClr val="123F36"/>
          </a:solidFill>
          <a:ln w="762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50392" y="5605272"/>
            <a:ext cx="1911095" cy="822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780" b="1" i="0">
                <a:solidFill>
                  <a:srgbClr val="F8F4EC"/>
                </a:solidFill>
                <a:latin typeface="Aptos"/>
              </a:rPr>
              <a:t>L1–L2 foundation built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971800" y="5513832"/>
            <a:ext cx="2057400" cy="310896"/>
          </a:xfrm>
          <a:prstGeom prst="roundRect">
            <a:avLst/>
          </a:prstGeom>
          <a:solidFill>
            <a:srgbClr val="B7893A"/>
          </a:solidFill>
          <a:ln w="762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044952" y="5605272"/>
            <a:ext cx="1911095" cy="822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780" b="1" i="0">
                <a:solidFill>
                  <a:srgbClr val="F8F4EC"/>
                </a:solidFill>
                <a:latin typeface="Aptos"/>
              </a:rPr>
              <a:t>AI layers planned next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166360" y="5513832"/>
            <a:ext cx="2377440" cy="310896"/>
          </a:xfrm>
          <a:prstGeom prst="roundRect">
            <a:avLst/>
          </a:prstGeom>
          <a:solidFill>
            <a:srgbClr val="215B4D"/>
          </a:solidFill>
          <a:ln w="762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239512" y="5605272"/>
            <a:ext cx="2231136" cy="822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780" b="1" i="0">
                <a:solidFill>
                  <a:srgbClr val="F8F4EC"/>
                </a:solidFill>
                <a:latin typeface="Aptos"/>
              </a:rPr>
              <a:t>PostgreSQL → SQLite offline sync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772400" y="5513832"/>
            <a:ext cx="2057400" cy="310896"/>
          </a:xfrm>
          <a:prstGeom prst="roundRect">
            <a:avLst/>
          </a:prstGeom>
          <a:solidFill>
            <a:srgbClr val="B7893A"/>
          </a:solidFill>
          <a:ln w="762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845552" y="5605272"/>
            <a:ext cx="1911095" cy="822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780" b="1" i="0">
                <a:solidFill>
                  <a:srgbClr val="F8F4EC"/>
                </a:solidFill>
                <a:latin typeface="Aptos"/>
              </a:rPr>
              <a:t>VPS deployment target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966960" y="5513832"/>
            <a:ext cx="1508760" cy="310896"/>
          </a:xfrm>
          <a:prstGeom prst="roundRect">
            <a:avLst/>
          </a:prstGeom>
          <a:solidFill>
            <a:srgbClr val="123F36"/>
          </a:solidFill>
          <a:ln w="762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040112" y="5605272"/>
            <a:ext cx="1362456" cy="8229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780" b="1" i="0">
                <a:solidFill>
                  <a:srgbClr val="F8F4EC"/>
                </a:solidFill>
                <a:latin typeface="Aptos"/>
              </a:rPr>
              <a:t>Verification gated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85800" y="5943600"/>
            <a:ext cx="10835640" cy="402336"/>
          </a:xfrm>
          <a:prstGeom prst="roundRect">
            <a:avLst/>
          </a:prstGeom>
          <a:solidFill>
            <a:srgbClr val="123F36"/>
          </a:solidFill>
          <a:ln w="10160">
            <a:solidFill>
              <a:srgbClr val="B7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22960" y="6071616"/>
            <a:ext cx="10561320" cy="12801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/>
            <a:r>
              <a:rPr sz="1019" b="1" i="0">
                <a:solidFill>
                  <a:srgbClr val="F8F4EC"/>
                </a:solidFill>
                <a:latin typeface="Aptos"/>
              </a:rPr>
              <a:t>Layer gate before moving forward: implement → test with real data → verify citations, dates and security → review → next layer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4360" y="6519672"/>
            <a:ext cx="2926080" cy="1554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/>
            <a:r>
              <a:rPr sz="750" b="1" i="0">
                <a:solidFill>
                  <a:srgbClr val="896021"/>
                </a:solidFill>
                <a:latin typeface="Aptos"/>
              </a:rPr>
              <a:t>NIZAM-E-QANOON  |  FINAL YEAR PROJECT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55279" y="6519672"/>
            <a:ext cx="3566160" cy="15544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r"/>
            <a:r>
              <a:rPr sz="750" b="1" i="0">
                <a:solidFill>
                  <a:srgbClr val="896021"/>
                </a:solidFill>
                <a:latin typeface="Aptos"/>
              </a:rPr>
              <a:t>BUILT LAYER BY LAYER — FROM CORPUS TO USER APP</a:t>
            </a:r>
          </a:p>
        </p:txBody>
      </p:sp>
      <p:sp>
        <p:nvSpPr>
          <p:cNvPr id="88" name="Text 18">
            <a:extLst>
              <a:ext uri="{FF2B5EF4-FFF2-40B4-BE49-F238E27FC236}">
                <a16:creationId xmlns:a16="http://schemas.microsoft.com/office/drawing/2014/main" id="{0691BECE-D49C-A6EC-758A-BACD5761AA5C}"/>
              </a:ext>
            </a:extLst>
          </p:cNvPr>
          <p:cNvSpPr/>
          <p:nvPr/>
        </p:nvSpPr>
        <p:spPr>
          <a:xfrm>
            <a:off x="11512296" y="659282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92000"/>
              </a:lnSpc>
              <a:buNone/>
            </a:pPr>
            <a:r>
              <a:rPr lang="en-US" sz="900" dirty="0">
                <a:solidFill>
                  <a:srgbClr val="5A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7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352E"/>
          </a:solidFill>
          <a:ln w="12700">
            <a:solidFill>
              <a:srgbClr val="1735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8873C"/>
          </a:solidFill>
          <a:ln w="12700">
            <a:solidFill>
              <a:srgbClr val="B887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4"/>
          <p:cNvSpPr txBox="1"/>
          <p:nvPr/>
        </p:nvSpPr>
        <p:spPr>
          <a:xfrm>
            <a:off x="594360" y="41148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039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High-level workflow · all users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94360" y="71323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1735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user opens, and what they walk away with.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02920" y="64922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E95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Nizam-e-Qanoon · Presentation I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11137392" y="641908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735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</a:p>
        </p:txBody>
      </p:sp>
      <p:sp>
        <p:nvSpPr>
          <p:cNvPr id="8" name="Shape 8"/>
          <p:cNvSpPr/>
          <p:nvPr/>
        </p:nvSpPr>
        <p:spPr>
          <a:xfrm>
            <a:off x="9555480" y="1261872"/>
            <a:ext cx="347472" cy="192024"/>
          </a:xfrm>
          <a:prstGeom prst="roundRect">
            <a:avLst>
              <a:gd name="adj" fmla="val 50000"/>
            </a:avLst>
          </a:prstGeom>
          <a:solidFill>
            <a:srgbClr val="17352E"/>
          </a:solidFill>
          <a:ln w="9525">
            <a:solidFill>
              <a:srgbClr val="1735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9"/>
          <p:cNvSpPr txBox="1"/>
          <p:nvPr/>
        </p:nvSpPr>
        <p:spPr>
          <a:xfrm>
            <a:off x="10030968" y="1252728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19" dirty="0">
                <a:solidFill>
                  <a:srgbClr val="5A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/ end</a:t>
            </a:r>
          </a:p>
        </p:txBody>
      </p:sp>
      <p:sp>
        <p:nvSpPr>
          <p:cNvPr id="10" name="Shape 10"/>
          <p:cNvSpPr/>
          <p:nvPr/>
        </p:nvSpPr>
        <p:spPr>
          <a:xfrm>
            <a:off x="9555480" y="1499616"/>
            <a:ext cx="347472" cy="192024"/>
          </a:xfrm>
          <a:prstGeom prst="rect">
            <a:avLst/>
          </a:prstGeom>
          <a:solidFill>
            <a:srgbClr val="FBF8F1"/>
          </a:solidFill>
          <a:ln w="9525">
            <a:solidFill>
              <a:srgbClr val="C9C0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11"/>
          <p:cNvSpPr txBox="1"/>
          <p:nvPr/>
        </p:nvSpPr>
        <p:spPr>
          <a:xfrm>
            <a:off x="10030968" y="1490472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19" dirty="0">
                <a:solidFill>
                  <a:srgbClr val="5A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</a:p>
        </p:txBody>
      </p:sp>
      <p:sp>
        <p:nvSpPr>
          <p:cNvPr id="12" name="Shape 12"/>
          <p:cNvSpPr/>
          <p:nvPr/>
        </p:nvSpPr>
        <p:spPr>
          <a:xfrm>
            <a:off x="9555480" y="1737360"/>
            <a:ext cx="347472" cy="192024"/>
          </a:xfrm>
          <a:prstGeom prst="diamond">
            <a:avLst/>
          </a:prstGeom>
          <a:solidFill>
            <a:srgbClr val="B8873C"/>
          </a:solidFill>
          <a:ln w="9525">
            <a:solidFill>
              <a:srgbClr val="B887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3"/>
          <p:cNvSpPr txBox="1"/>
          <p:nvPr/>
        </p:nvSpPr>
        <p:spPr>
          <a:xfrm>
            <a:off x="10030968" y="1728216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19" dirty="0">
                <a:solidFill>
                  <a:srgbClr val="5A62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</a:p>
        </p:txBody>
      </p:sp>
      <p:sp>
        <p:nvSpPr>
          <p:cNvPr id="14" name="Shape 14"/>
          <p:cNvSpPr/>
          <p:nvPr/>
        </p:nvSpPr>
        <p:spPr>
          <a:xfrm>
            <a:off x="4541368" y="1298448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7352E"/>
          </a:solidFill>
          <a:ln w="12700">
            <a:solidFill>
              <a:srgbClr val="1735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5"/>
          <p:cNvSpPr txBox="1"/>
          <p:nvPr/>
        </p:nvSpPr>
        <p:spPr>
          <a:xfrm>
            <a:off x="4541368" y="1298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opens Nizam-e-Qanoon</a:t>
            </a:r>
          </a:p>
        </p:txBody>
      </p:sp>
      <p:sp>
        <p:nvSpPr>
          <p:cNvPr id="16" name="Shape 16"/>
          <p:cNvSpPr/>
          <p:nvPr/>
        </p:nvSpPr>
        <p:spPr>
          <a:xfrm>
            <a:off x="6096305" y="1664208"/>
            <a:ext cx="0" cy="109728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7"/>
          <p:cNvSpPr/>
          <p:nvPr/>
        </p:nvSpPr>
        <p:spPr>
          <a:xfrm>
            <a:off x="4130345" y="1773936"/>
            <a:ext cx="3931920" cy="694944"/>
          </a:xfrm>
          <a:prstGeom prst="diamond">
            <a:avLst/>
          </a:prstGeom>
          <a:solidFill>
            <a:srgbClr val="B8873C"/>
          </a:solidFill>
          <a:ln w="12700">
            <a:solidFill>
              <a:srgbClr val="B887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8"/>
          <p:cNvSpPr txBox="1"/>
          <p:nvPr/>
        </p:nvSpPr>
        <p:spPr>
          <a:xfrm>
            <a:off x="4724705" y="19751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the user need?</a:t>
            </a:r>
          </a:p>
        </p:txBody>
      </p:sp>
      <p:sp>
        <p:nvSpPr>
          <p:cNvPr id="19" name="Shape 19"/>
          <p:cNvSpPr/>
          <p:nvPr/>
        </p:nvSpPr>
        <p:spPr>
          <a:xfrm>
            <a:off x="6096305" y="2468880"/>
            <a:ext cx="0" cy="109728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20"/>
          <p:cNvSpPr/>
          <p:nvPr/>
        </p:nvSpPr>
        <p:spPr>
          <a:xfrm>
            <a:off x="1851660" y="2578608"/>
            <a:ext cx="8484718" cy="0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21"/>
          <p:cNvSpPr/>
          <p:nvPr/>
        </p:nvSpPr>
        <p:spPr>
          <a:xfrm>
            <a:off x="1851660" y="2578608"/>
            <a:ext cx="0" cy="420624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2"/>
          <p:cNvSpPr txBox="1"/>
          <p:nvPr/>
        </p:nvSpPr>
        <p:spPr>
          <a:xfrm>
            <a:off x="1943100" y="26517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8A62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a document</a:t>
            </a:r>
          </a:p>
        </p:txBody>
      </p:sp>
      <p:sp>
        <p:nvSpPr>
          <p:cNvPr id="23" name="Shape 23"/>
          <p:cNvSpPr/>
          <p:nvPr/>
        </p:nvSpPr>
        <p:spPr>
          <a:xfrm>
            <a:off x="6094019" y="2578608"/>
            <a:ext cx="0" cy="420624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4"/>
          <p:cNvSpPr txBox="1"/>
          <p:nvPr/>
        </p:nvSpPr>
        <p:spPr>
          <a:xfrm>
            <a:off x="6185459" y="26517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8A62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an answer</a:t>
            </a:r>
          </a:p>
        </p:txBody>
      </p:sp>
      <p:sp>
        <p:nvSpPr>
          <p:cNvPr id="25" name="Shape 25"/>
          <p:cNvSpPr/>
          <p:nvPr/>
        </p:nvSpPr>
        <p:spPr>
          <a:xfrm>
            <a:off x="10336378" y="2578608"/>
            <a:ext cx="0" cy="420624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6"/>
          <p:cNvSpPr txBox="1"/>
          <p:nvPr/>
        </p:nvSpPr>
        <p:spPr>
          <a:xfrm>
            <a:off x="8781898" y="26517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 dirty="0">
                <a:solidFill>
                  <a:srgbClr val="8A62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wants to practice</a:t>
            </a:r>
          </a:p>
        </p:txBody>
      </p:sp>
      <p:sp>
        <p:nvSpPr>
          <p:cNvPr id="27" name="Shape 27"/>
          <p:cNvSpPr/>
          <p:nvPr/>
        </p:nvSpPr>
        <p:spPr>
          <a:xfrm>
            <a:off x="594360" y="2999232"/>
            <a:ext cx="2514600" cy="512064"/>
          </a:xfrm>
          <a:prstGeom prst="roundRect">
            <a:avLst>
              <a:gd name="adj" fmla="val 50000"/>
            </a:avLst>
          </a:prstGeom>
          <a:solidFill>
            <a:srgbClr val="17352E"/>
          </a:solidFill>
          <a:ln w="12700">
            <a:solidFill>
              <a:srgbClr val="1735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8"/>
          <p:cNvSpPr txBox="1"/>
          <p:nvPr/>
        </p:nvSpPr>
        <p:spPr>
          <a:xfrm>
            <a:off x="685800" y="305409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A9C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OR LAWYER</a:t>
            </a:r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 Document Factory</a:t>
            </a:r>
          </a:p>
        </p:txBody>
      </p:sp>
      <p:sp>
        <p:nvSpPr>
          <p:cNvPr id="29" name="Shape 29"/>
          <p:cNvSpPr/>
          <p:nvPr/>
        </p:nvSpPr>
        <p:spPr>
          <a:xfrm>
            <a:off x="1851660" y="3511296"/>
            <a:ext cx="0" cy="146304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30"/>
          <p:cNvSpPr/>
          <p:nvPr/>
        </p:nvSpPr>
        <p:spPr>
          <a:xfrm>
            <a:off x="594360" y="3657600"/>
            <a:ext cx="2514600" cy="512064"/>
          </a:xfrm>
          <a:prstGeom prst="roundRect">
            <a:avLst>
              <a:gd name="adj" fmla="val 9000"/>
            </a:avLst>
          </a:prstGeom>
          <a:solidFill>
            <a:srgbClr val="FBF8F1"/>
          </a:solidFill>
          <a:ln w="12700">
            <a:solidFill>
              <a:srgbClr val="DFD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31"/>
          <p:cNvSpPr txBox="1"/>
          <p:nvPr/>
        </p:nvSpPr>
        <p:spPr>
          <a:xfrm>
            <a:off x="685800" y="36576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35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Describes the dispute in plain Urdu or English</a:t>
            </a:r>
          </a:p>
        </p:txBody>
      </p:sp>
      <p:sp>
        <p:nvSpPr>
          <p:cNvPr id="32" name="Shape 32"/>
          <p:cNvSpPr/>
          <p:nvPr/>
        </p:nvSpPr>
        <p:spPr>
          <a:xfrm>
            <a:off x="1851660" y="4169664"/>
            <a:ext cx="0" cy="146304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3"/>
          <p:cNvSpPr/>
          <p:nvPr/>
        </p:nvSpPr>
        <p:spPr>
          <a:xfrm>
            <a:off x="594360" y="4315968"/>
            <a:ext cx="2514600" cy="512064"/>
          </a:xfrm>
          <a:prstGeom prst="roundRect">
            <a:avLst>
              <a:gd name="adj" fmla="val 9000"/>
            </a:avLst>
          </a:prstGeom>
          <a:solidFill>
            <a:srgbClr val="FBF8F1"/>
          </a:solidFill>
          <a:ln w="12700">
            <a:solidFill>
              <a:srgbClr val="DFD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4"/>
          <p:cNvSpPr txBox="1"/>
          <p:nvPr/>
        </p:nvSpPr>
        <p:spPr>
          <a:xfrm>
            <a:off x="685800" y="4315968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35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extracts the facts · Python writes the law</a:t>
            </a:r>
          </a:p>
        </p:txBody>
      </p:sp>
      <p:sp>
        <p:nvSpPr>
          <p:cNvPr id="35" name="Shape 35"/>
          <p:cNvSpPr/>
          <p:nvPr/>
        </p:nvSpPr>
        <p:spPr>
          <a:xfrm>
            <a:off x="1851660" y="4828032"/>
            <a:ext cx="0" cy="146304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6"/>
          <p:cNvSpPr/>
          <p:nvPr/>
        </p:nvSpPr>
        <p:spPr>
          <a:xfrm>
            <a:off x="594360" y="4974336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17352E"/>
          </a:solidFill>
          <a:ln w="12700">
            <a:solidFill>
              <a:srgbClr val="1735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7"/>
          <p:cNvSpPr txBox="1"/>
          <p:nvPr/>
        </p:nvSpPr>
        <p:spPr>
          <a:xfrm>
            <a:off x="594360" y="49743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Court-ready plaint (PDF)</a:t>
            </a:r>
          </a:p>
        </p:txBody>
      </p:sp>
      <p:sp>
        <p:nvSpPr>
          <p:cNvPr id="38" name="Shape 38"/>
          <p:cNvSpPr/>
          <p:nvPr/>
        </p:nvSpPr>
        <p:spPr>
          <a:xfrm>
            <a:off x="9079078" y="2999232"/>
            <a:ext cx="2514600" cy="512064"/>
          </a:xfrm>
          <a:prstGeom prst="roundRect">
            <a:avLst>
              <a:gd name="adj" fmla="val 50000"/>
            </a:avLst>
          </a:prstGeom>
          <a:solidFill>
            <a:srgbClr val="17352E"/>
          </a:solidFill>
          <a:ln w="12700">
            <a:solidFill>
              <a:srgbClr val="1735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9"/>
          <p:cNvSpPr txBox="1"/>
          <p:nvPr/>
        </p:nvSpPr>
        <p:spPr>
          <a:xfrm>
            <a:off x="9170518" y="305409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A9C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LAWYER</a:t>
            </a:r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 Courtroom Simulation</a:t>
            </a:r>
          </a:p>
        </p:txBody>
      </p:sp>
      <p:sp>
        <p:nvSpPr>
          <p:cNvPr id="40" name="Shape 40"/>
          <p:cNvSpPr/>
          <p:nvPr/>
        </p:nvSpPr>
        <p:spPr>
          <a:xfrm>
            <a:off x="10336378" y="3511296"/>
            <a:ext cx="0" cy="146304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41"/>
          <p:cNvSpPr/>
          <p:nvPr/>
        </p:nvSpPr>
        <p:spPr>
          <a:xfrm>
            <a:off x="9079078" y="3657600"/>
            <a:ext cx="2514600" cy="512064"/>
          </a:xfrm>
          <a:prstGeom prst="roundRect">
            <a:avLst>
              <a:gd name="adj" fmla="val 9000"/>
            </a:avLst>
          </a:prstGeom>
          <a:solidFill>
            <a:srgbClr val="FBF8F1"/>
          </a:solidFill>
          <a:ln w="12700">
            <a:solidFill>
              <a:srgbClr val="DFD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2"/>
          <p:cNvSpPr txBox="1"/>
          <p:nvPr/>
        </p:nvSpPr>
        <p:spPr>
          <a:xfrm>
            <a:off x="9170518" y="36576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35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Picks a decided case, or generates a new one</a:t>
            </a:r>
          </a:p>
        </p:txBody>
      </p:sp>
      <p:sp>
        <p:nvSpPr>
          <p:cNvPr id="43" name="Shape 43"/>
          <p:cNvSpPr/>
          <p:nvPr/>
        </p:nvSpPr>
        <p:spPr>
          <a:xfrm>
            <a:off x="10336378" y="4169664"/>
            <a:ext cx="0" cy="146304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4"/>
          <p:cNvSpPr/>
          <p:nvPr/>
        </p:nvSpPr>
        <p:spPr>
          <a:xfrm>
            <a:off x="9079078" y="4315968"/>
            <a:ext cx="2514600" cy="512064"/>
          </a:xfrm>
          <a:prstGeom prst="roundRect">
            <a:avLst>
              <a:gd name="adj" fmla="val 9000"/>
            </a:avLst>
          </a:prstGeom>
          <a:solidFill>
            <a:srgbClr val="FBF8F1"/>
          </a:solidFill>
          <a:ln w="12700">
            <a:solidFill>
              <a:srgbClr val="DFD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5"/>
          <p:cNvSpPr txBox="1"/>
          <p:nvPr/>
        </p:nvSpPr>
        <p:spPr>
          <a:xfrm>
            <a:off x="9170518" y="4315968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35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Argues in 3D against an AI judge and AI counsel</a:t>
            </a:r>
          </a:p>
        </p:txBody>
      </p:sp>
      <p:sp>
        <p:nvSpPr>
          <p:cNvPr id="46" name="Shape 46"/>
          <p:cNvSpPr/>
          <p:nvPr/>
        </p:nvSpPr>
        <p:spPr>
          <a:xfrm>
            <a:off x="10336378" y="4828032"/>
            <a:ext cx="0" cy="146304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7"/>
          <p:cNvSpPr/>
          <p:nvPr/>
        </p:nvSpPr>
        <p:spPr>
          <a:xfrm>
            <a:off x="9079078" y="4974336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17352E"/>
          </a:solidFill>
          <a:ln w="12700">
            <a:solidFill>
              <a:srgbClr val="1735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8"/>
          <p:cNvSpPr txBox="1"/>
          <p:nvPr/>
        </p:nvSpPr>
        <p:spPr>
          <a:xfrm>
            <a:off x="9079078" y="49743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Verdict + feedback</a:t>
            </a:r>
          </a:p>
        </p:txBody>
      </p:sp>
      <p:sp>
        <p:nvSpPr>
          <p:cNvPr id="49" name="Shape 49"/>
          <p:cNvSpPr/>
          <p:nvPr/>
        </p:nvSpPr>
        <p:spPr>
          <a:xfrm>
            <a:off x="3422599" y="2999232"/>
            <a:ext cx="5342839" cy="512064"/>
          </a:xfrm>
          <a:prstGeom prst="roundRect">
            <a:avLst>
              <a:gd name="adj" fmla="val 50000"/>
            </a:avLst>
          </a:prstGeom>
          <a:solidFill>
            <a:srgbClr val="17352E"/>
          </a:solidFill>
          <a:ln w="12700">
            <a:solidFill>
              <a:srgbClr val="1735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50"/>
          <p:cNvSpPr txBox="1"/>
          <p:nvPr/>
        </p:nvSpPr>
        <p:spPr>
          <a:xfrm>
            <a:off x="3514039" y="3054096"/>
            <a:ext cx="51599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A9C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USER · INCLUDING THE BENCH</a:t>
            </a:r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 Legal Chatbot</a:t>
            </a:r>
          </a:p>
        </p:txBody>
      </p:sp>
      <p:sp>
        <p:nvSpPr>
          <p:cNvPr id="51" name="Shape 51"/>
          <p:cNvSpPr/>
          <p:nvPr/>
        </p:nvSpPr>
        <p:spPr>
          <a:xfrm>
            <a:off x="6094019" y="3511296"/>
            <a:ext cx="0" cy="109728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2"/>
          <p:cNvSpPr/>
          <p:nvPr/>
        </p:nvSpPr>
        <p:spPr>
          <a:xfrm>
            <a:off x="4679899" y="3621024"/>
            <a:ext cx="2828239" cy="0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3"/>
          <p:cNvSpPr/>
          <p:nvPr/>
        </p:nvSpPr>
        <p:spPr>
          <a:xfrm>
            <a:off x="4679899" y="3621024"/>
            <a:ext cx="0" cy="201168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4"/>
          <p:cNvSpPr/>
          <p:nvPr/>
        </p:nvSpPr>
        <p:spPr>
          <a:xfrm>
            <a:off x="7508138" y="3621024"/>
            <a:ext cx="0" cy="201168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5"/>
          <p:cNvSpPr txBox="1"/>
          <p:nvPr/>
        </p:nvSpPr>
        <p:spPr>
          <a:xfrm>
            <a:off x="3381451" y="36393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8A62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asks a question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7617866" y="36393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8A62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reviews an appeal</a:t>
            </a:r>
          </a:p>
        </p:txBody>
      </p:sp>
      <p:sp>
        <p:nvSpPr>
          <p:cNvPr id="57" name="Shape 57"/>
          <p:cNvSpPr/>
          <p:nvPr/>
        </p:nvSpPr>
        <p:spPr>
          <a:xfrm>
            <a:off x="3422599" y="3822192"/>
            <a:ext cx="2514600" cy="493776"/>
          </a:xfrm>
          <a:prstGeom prst="roundRect">
            <a:avLst>
              <a:gd name="adj" fmla="val 9000"/>
            </a:avLst>
          </a:prstGeom>
          <a:solidFill>
            <a:srgbClr val="FBF8F1"/>
          </a:solidFill>
          <a:ln w="12700">
            <a:solidFill>
              <a:srgbClr val="DFD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8"/>
          <p:cNvSpPr txBox="1"/>
          <p:nvPr/>
        </p:nvSpPr>
        <p:spPr>
          <a:xfrm>
            <a:off x="3514039" y="3822192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35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Asks in plain language; the corpus is searched</a:t>
            </a:r>
          </a:p>
        </p:txBody>
      </p:sp>
      <p:sp>
        <p:nvSpPr>
          <p:cNvPr id="59" name="Shape 59"/>
          <p:cNvSpPr/>
          <p:nvPr/>
        </p:nvSpPr>
        <p:spPr>
          <a:xfrm>
            <a:off x="4679899" y="4315968"/>
            <a:ext cx="0" cy="128016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60"/>
          <p:cNvSpPr/>
          <p:nvPr/>
        </p:nvSpPr>
        <p:spPr>
          <a:xfrm>
            <a:off x="3482035" y="4443984"/>
            <a:ext cx="2395728" cy="585216"/>
          </a:xfrm>
          <a:prstGeom prst="diamond">
            <a:avLst/>
          </a:prstGeom>
          <a:solidFill>
            <a:srgbClr val="B8873C"/>
          </a:solidFill>
          <a:ln w="12700">
            <a:solidFill>
              <a:srgbClr val="B887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61"/>
          <p:cNvSpPr txBox="1"/>
          <p:nvPr/>
        </p:nvSpPr>
        <p:spPr>
          <a:xfrm>
            <a:off x="3756355" y="461772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Enough legal evidence?</a:t>
            </a:r>
          </a:p>
        </p:txBody>
      </p:sp>
      <p:sp>
        <p:nvSpPr>
          <p:cNvPr id="62" name="Shape 62"/>
          <p:cNvSpPr/>
          <p:nvPr/>
        </p:nvSpPr>
        <p:spPr>
          <a:xfrm>
            <a:off x="4679899" y="5029200"/>
            <a:ext cx="0" cy="91440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3"/>
          <p:cNvSpPr/>
          <p:nvPr/>
        </p:nvSpPr>
        <p:spPr>
          <a:xfrm>
            <a:off x="4021531" y="5120640"/>
            <a:ext cx="1316736" cy="0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4"/>
          <p:cNvSpPr/>
          <p:nvPr/>
        </p:nvSpPr>
        <p:spPr>
          <a:xfrm>
            <a:off x="4021531" y="5120640"/>
            <a:ext cx="0" cy="146304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5"/>
          <p:cNvSpPr/>
          <p:nvPr/>
        </p:nvSpPr>
        <p:spPr>
          <a:xfrm>
            <a:off x="5338267" y="5120640"/>
            <a:ext cx="0" cy="146304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6"/>
          <p:cNvSpPr txBox="1"/>
          <p:nvPr/>
        </p:nvSpPr>
        <p:spPr>
          <a:xfrm>
            <a:off x="3399739" y="513892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62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5466283" y="513892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039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</a:p>
        </p:txBody>
      </p:sp>
      <p:sp>
        <p:nvSpPr>
          <p:cNvPr id="68" name="Shape 68"/>
          <p:cNvSpPr/>
          <p:nvPr/>
        </p:nvSpPr>
        <p:spPr>
          <a:xfrm>
            <a:off x="3436315" y="5266944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17352E"/>
          </a:solidFill>
          <a:ln w="12700">
            <a:solidFill>
              <a:srgbClr val="1735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69"/>
          <p:cNvSpPr txBox="1"/>
          <p:nvPr/>
        </p:nvSpPr>
        <p:spPr>
          <a:xfrm>
            <a:off x="3436315" y="5266944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Cited answer</a:t>
            </a:r>
          </a:p>
        </p:txBody>
      </p:sp>
      <p:sp>
        <p:nvSpPr>
          <p:cNvPr id="70" name="Shape 70"/>
          <p:cNvSpPr/>
          <p:nvPr/>
        </p:nvSpPr>
        <p:spPr>
          <a:xfrm>
            <a:off x="4753051" y="5266944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A0392C"/>
          </a:solidFill>
          <a:ln w="12700">
            <a:solidFill>
              <a:srgbClr val="A039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71"/>
          <p:cNvSpPr txBox="1"/>
          <p:nvPr/>
        </p:nvSpPr>
        <p:spPr>
          <a:xfrm>
            <a:off x="4753051" y="5266944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Abstain safely</a:t>
            </a:r>
          </a:p>
        </p:txBody>
      </p:sp>
      <p:sp>
        <p:nvSpPr>
          <p:cNvPr id="72" name="Shape 72"/>
          <p:cNvSpPr/>
          <p:nvPr/>
        </p:nvSpPr>
        <p:spPr>
          <a:xfrm>
            <a:off x="6250838" y="3822192"/>
            <a:ext cx="2514600" cy="493776"/>
          </a:xfrm>
          <a:prstGeom prst="roundRect">
            <a:avLst>
              <a:gd name="adj" fmla="val 9000"/>
            </a:avLst>
          </a:prstGeom>
          <a:solidFill>
            <a:srgbClr val="FBF8F1"/>
          </a:solidFill>
          <a:ln w="12700">
            <a:solidFill>
              <a:srgbClr val="DFD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73"/>
          <p:cNvSpPr txBox="1"/>
          <p:nvPr/>
        </p:nvSpPr>
        <p:spPr>
          <a:xfrm>
            <a:off x="6342278" y="3822192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35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Feeds in the lower-court record for a summary</a:t>
            </a:r>
          </a:p>
        </p:txBody>
      </p:sp>
      <p:sp>
        <p:nvSpPr>
          <p:cNvPr id="74" name="Shape 74"/>
          <p:cNvSpPr/>
          <p:nvPr/>
        </p:nvSpPr>
        <p:spPr>
          <a:xfrm>
            <a:off x="7508138" y="4315968"/>
            <a:ext cx="0" cy="146304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5"/>
          <p:cNvSpPr/>
          <p:nvPr/>
        </p:nvSpPr>
        <p:spPr>
          <a:xfrm>
            <a:off x="6250838" y="4462272"/>
            <a:ext cx="2514600" cy="493776"/>
          </a:xfrm>
          <a:prstGeom prst="roundRect">
            <a:avLst>
              <a:gd name="adj" fmla="val 9000"/>
            </a:avLst>
          </a:prstGeom>
          <a:solidFill>
            <a:srgbClr val="FBF8F1"/>
          </a:solidFill>
          <a:ln w="12700">
            <a:solidFill>
              <a:srgbClr val="DFD8C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6"/>
          <p:cNvSpPr txBox="1"/>
          <p:nvPr/>
        </p:nvSpPr>
        <p:spPr>
          <a:xfrm>
            <a:off x="6342278" y="4462272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735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Authorities, statutes and reasoning cross-checked</a:t>
            </a:r>
          </a:p>
        </p:txBody>
      </p:sp>
      <p:sp>
        <p:nvSpPr>
          <p:cNvPr id="77" name="Shape 77"/>
          <p:cNvSpPr/>
          <p:nvPr/>
        </p:nvSpPr>
        <p:spPr>
          <a:xfrm>
            <a:off x="7508138" y="4956048"/>
            <a:ext cx="0" cy="146304"/>
          </a:xfrm>
          <a:prstGeom prst="line">
            <a:avLst/>
          </a:prstGeom>
          <a:noFill/>
          <a:ln w="12700">
            <a:solidFill>
              <a:srgbClr val="B8873C"/>
            </a:solidFill>
            <a:prstDash val="solid"/>
            <a:tailEnd type="triangl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8"/>
          <p:cNvSpPr/>
          <p:nvPr/>
        </p:nvSpPr>
        <p:spPr>
          <a:xfrm>
            <a:off x="6250838" y="510235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17352E"/>
          </a:solidFill>
          <a:ln w="12700">
            <a:solidFill>
              <a:srgbClr val="1735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Text 79"/>
          <p:cNvSpPr txBox="1"/>
          <p:nvPr/>
        </p:nvSpPr>
        <p:spPr>
          <a:xfrm>
            <a:off x="6250838" y="51023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· Modify · Set aside</a:t>
            </a:r>
          </a:p>
        </p:txBody>
      </p:sp>
      <p:sp>
        <p:nvSpPr>
          <p:cNvPr id="80" name="Shape 80"/>
          <p:cNvSpPr/>
          <p:nvPr/>
        </p:nvSpPr>
        <p:spPr>
          <a:xfrm>
            <a:off x="1706728" y="5870448"/>
            <a:ext cx="8778240" cy="384048"/>
          </a:xfrm>
          <a:prstGeom prst="roundRect">
            <a:avLst>
              <a:gd name="adj" fmla="val 16667"/>
            </a:avLst>
          </a:prstGeom>
          <a:solidFill>
            <a:srgbClr val="F0E4CB"/>
          </a:solidFill>
          <a:ln w="9525">
            <a:solidFill>
              <a:srgbClr val="B887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Text 81"/>
          <p:cNvSpPr txBox="1"/>
          <p:nvPr/>
        </p:nvSpPr>
        <p:spPr>
          <a:xfrm>
            <a:off x="1706728" y="587044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62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surfaces, four journeys — all grounded in one verified corpus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8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304800"/>
            <a:ext cx="11201400" cy="12700"/>
          </a:xfrm>
          <a:prstGeom prst="rect">
            <a:avLst/>
          </a:prstGeom>
          <a:solidFill>
            <a:srgbClr val="B78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8000" y="6477000"/>
            <a:ext cx="11201400" cy="12700"/>
          </a:xfrm>
          <a:prstGeom prst="rect">
            <a:avLst/>
          </a:prstGeom>
          <a:solidFill>
            <a:srgbClr val="B78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123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6900" y="46990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896021"/>
                </a:solidFill>
                <a:latin typeface="Aptos"/>
              </a:rPr>
              <a:t>LITERATURE REVIEW  ·  EXISTING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69900"/>
            <a:ext cx="4711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 spc="40">
                <a:solidFill>
                  <a:srgbClr val="896021"/>
                </a:solidFill>
                <a:latin typeface="Aptos"/>
              </a:rPr>
              <a:t>TOOLS  |  GAPS  | 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900" y="774700"/>
            <a:ext cx="96520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23F36"/>
                </a:solidFill>
                <a:latin typeface="Georgia"/>
              </a:rPr>
              <a:t>What already exists, and what each one leaves 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346200"/>
            <a:ext cx="8890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C574C"/>
                </a:solidFill>
                <a:latin typeface="Aptos"/>
              </a:rPr>
              <a:t>Five systems we studied. Each solves part of the problem; none closes the whole gap.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900" y="65151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spc="40">
                <a:solidFill>
                  <a:srgbClr val="896021"/>
                </a:solidFill>
                <a:latin typeface="Aptos"/>
              </a:rPr>
              <a:t>NIZAM-E-QANOON  |  FINAL YEAR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2000" y="6515100"/>
            <a:ext cx="508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 dirty="0">
                <a:solidFill>
                  <a:srgbClr val="896021"/>
                </a:solidFill>
                <a:latin typeface="Aptos"/>
              </a:rPr>
              <a:t>0</a:t>
            </a:r>
            <a:r>
              <a:rPr lang="en-GB" sz="750" b="1" i="0" dirty="0">
                <a:solidFill>
                  <a:srgbClr val="896021"/>
                </a:solidFill>
                <a:latin typeface="Aptos"/>
              </a:rPr>
              <a:t>8</a:t>
            </a:r>
            <a:endParaRPr sz="750" b="1" i="0" dirty="0">
              <a:solidFill>
                <a:srgbClr val="896021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5800" y="1905000"/>
            <a:ext cx="3467100" cy="1752600"/>
          </a:xfrm>
          <a:prstGeom prst="roundRect">
            <a:avLst>
              <a:gd name="adj" fmla="val 6000"/>
            </a:avLst>
          </a:prstGeom>
          <a:solidFill>
            <a:srgbClr val="FCF9F2"/>
          </a:solidFill>
          <a:ln w="13970">
            <a:solidFill>
              <a:srgbClr val="D9C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9000" y="2070100"/>
            <a:ext cx="30607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23F36"/>
                </a:solidFill>
                <a:latin typeface="Aptos"/>
              </a:rPr>
              <a:t>Pakistan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2311400"/>
            <a:ext cx="30607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30" b="0" i="0">
                <a:solidFill>
                  <a:srgbClr val="896021"/>
                </a:solidFill>
                <a:latin typeface="Aptos"/>
              </a:rPr>
              <a:t>Govt. repository · free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2501900"/>
            <a:ext cx="3060700" cy="48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C574C"/>
                </a:solidFill>
                <a:latin typeface="Aptos"/>
              </a:rPr>
              <a:t>900+ federal statutes (Criminal 69, Civil 147, Family 22, Labour 41).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" y="3048000"/>
            <a:ext cx="3060700" cy="516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1" i="0" dirty="0">
                <a:solidFill>
                  <a:srgbClr val="123F36"/>
                </a:solidFill>
                <a:latin typeface="Aptos"/>
              </a:rPr>
              <a:t>Gap: no semantic search, no Urdu interface, no offline mode, scanned PDFs not searchable.</a:t>
            </a:r>
            <a:br>
              <a:rPr lang="en-US" sz="950" b="1" dirty="0">
                <a:solidFill>
                  <a:srgbClr val="123F36"/>
                </a:solidFill>
                <a:latin typeface="Aptos"/>
              </a:rPr>
            </a:br>
            <a:r>
              <a:rPr lang="en-US" sz="950" b="1" dirty="0">
                <a:solidFill>
                  <a:srgbClr val="123F36"/>
                </a:solidFill>
                <a:latin typeface="Aptos"/>
                <a:hlinkClick r:id="rId2"/>
              </a:rPr>
              <a:t>https://pakistancode.gov.pk</a:t>
            </a:r>
            <a:endParaRPr sz="950" b="1" i="0" dirty="0">
              <a:solidFill>
                <a:srgbClr val="123F36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68800" y="1905000"/>
            <a:ext cx="3467100" cy="1752600"/>
          </a:xfrm>
          <a:prstGeom prst="roundRect">
            <a:avLst>
              <a:gd name="adj" fmla="val 6000"/>
            </a:avLst>
          </a:prstGeom>
          <a:solidFill>
            <a:srgbClr val="FCF9F2"/>
          </a:solidFill>
          <a:ln w="13970">
            <a:solidFill>
              <a:srgbClr val="D9C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4572000" y="2070100"/>
            <a:ext cx="30607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23F36"/>
                </a:solidFill>
                <a:latin typeface="Aptos"/>
              </a:rPr>
              <a:t>PakistanLawSite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11400"/>
            <a:ext cx="30607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30" b="0" i="0">
                <a:solidFill>
                  <a:srgbClr val="896021"/>
                </a:solidFill>
                <a:latin typeface="Aptos"/>
              </a:rPr>
              <a:t>PLD Publishers · since 2002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501900"/>
            <a:ext cx="3060700" cy="48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C574C"/>
                </a:solidFill>
                <a:latin typeface="Aptos"/>
              </a:rPr>
              <a:t>Most complete case-law database: PLD, SCMR, CLC, YLR and more, 1,200+ essays.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048000"/>
            <a:ext cx="3060700" cy="34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1" i="0" dirty="0">
                <a:solidFill>
                  <a:srgbClr val="123F36"/>
                </a:solidFill>
                <a:latin typeface="Aptos"/>
              </a:rPr>
              <a:t>Gap: raw text with no AI interpretation.</a:t>
            </a:r>
            <a:br>
              <a:rPr lang="en-US" sz="950" b="1" dirty="0">
                <a:solidFill>
                  <a:srgbClr val="123F36"/>
                </a:solidFill>
                <a:latin typeface="Aptos"/>
              </a:rPr>
            </a:br>
            <a:r>
              <a:rPr lang="en-US" sz="950" b="1" dirty="0">
                <a:solidFill>
                  <a:srgbClr val="123F36"/>
                </a:solidFill>
                <a:latin typeface="Aptos"/>
                <a:hlinkClick r:id="rId3"/>
              </a:rPr>
              <a:t>https://www.pakistanlawsite.com</a:t>
            </a:r>
            <a:endParaRPr sz="950" b="1" i="0" dirty="0">
              <a:solidFill>
                <a:srgbClr val="123F36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51800" y="1905000"/>
            <a:ext cx="3467100" cy="1752600"/>
          </a:xfrm>
          <a:prstGeom prst="roundRect">
            <a:avLst>
              <a:gd name="adj" fmla="val 6000"/>
            </a:avLst>
          </a:prstGeom>
          <a:solidFill>
            <a:srgbClr val="FCF9F2"/>
          </a:solidFill>
          <a:ln w="13970">
            <a:solidFill>
              <a:srgbClr val="D9C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55000" y="2070100"/>
            <a:ext cx="30607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dirty="0" err="1">
                <a:solidFill>
                  <a:srgbClr val="123F36"/>
                </a:solidFill>
                <a:latin typeface="Aptos"/>
              </a:rPr>
              <a:t>PakLaw</a:t>
            </a:r>
            <a:r>
              <a:rPr lang="en-GB" sz="1250" b="1" i="0" dirty="0">
                <a:solidFill>
                  <a:srgbClr val="123F36"/>
                </a:solidFill>
                <a:latin typeface="Aptos"/>
              </a:rPr>
              <a:t>Site</a:t>
            </a:r>
            <a:endParaRPr sz="1250" b="1" i="0" dirty="0">
              <a:solidFill>
                <a:srgbClr val="123F36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55000" y="2311400"/>
            <a:ext cx="30607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30" b="0" i="0">
                <a:solidFill>
                  <a:srgbClr val="896021"/>
                </a:solidFill>
                <a:latin typeface="Aptos"/>
              </a:rPr>
              <a:t>Pakistani legal AI · bilingual · freemium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5000" y="2501900"/>
            <a:ext cx="3060700" cy="48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C574C"/>
                </a:solidFill>
                <a:latin typeface="Aptos"/>
              </a:rPr>
              <a:t>AI chat over 659+ laws and about 193,000 judgments, plus lawyer booking and paid drafting.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5000" y="3048000"/>
            <a:ext cx="3060700" cy="516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1" i="0" dirty="0">
                <a:solidFill>
                  <a:srgbClr val="123F36"/>
                </a:solidFill>
                <a:latin typeface="Aptos"/>
              </a:rPr>
              <a:t>Gap: low number of judgments and precedents, and </a:t>
            </a:r>
            <a:r>
              <a:rPr lang="en-GB" sz="950" b="1" dirty="0">
                <a:solidFill>
                  <a:srgbClr val="123F36"/>
                </a:solidFill>
                <a:latin typeface="Aptos"/>
              </a:rPr>
              <a:t>in</a:t>
            </a:r>
            <a:r>
              <a:rPr sz="950" b="1" i="0" dirty="0">
                <a:solidFill>
                  <a:srgbClr val="123F36"/>
                </a:solidFill>
                <a:latin typeface="Aptos"/>
              </a:rPr>
              <a:t>complete Pakistani law code behind </a:t>
            </a:r>
            <a:r>
              <a:rPr sz="950" b="1" i="0" dirty="0" err="1">
                <a:solidFill>
                  <a:srgbClr val="123F36"/>
                </a:solidFill>
                <a:latin typeface="Aptos"/>
              </a:rPr>
              <a:t>i</a:t>
            </a:r>
            <a:r>
              <a:rPr lang="en-GB" sz="950" b="1" i="0" dirty="0">
                <a:solidFill>
                  <a:srgbClr val="123F36"/>
                </a:solidFill>
                <a:latin typeface="Aptos"/>
              </a:rPr>
              <a:t>t</a:t>
            </a:r>
            <a:r>
              <a:rPr sz="950" b="1" i="0" dirty="0">
                <a:solidFill>
                  <a:srgbClr val="123F36"/>
                </a:solidFill>
                <a:latin typeface="Aptos"/>
              </a:rPr>
              <a:t>.</a:t>
            </a:r>
            <a:br>
              <a:rPr lang="en-US" sz="950" b="1" dirty="0">
                <a:solidFill>
                  <a:srgbClr val="123F36"/>
                </a:solidFill>
                <a:latin typeface="Aptos"/>
              </a:rPr>
            </a:br>
            <a:r>
              <a:rPr lang="en-US" sz="950" b="1" dirty="0">
                <a:solidFill>
                  <a:srgbClr val="123F36"/>
                </a:solidFill>
                <a:latin typeface="Aptos"/>
                <a:hlinkClick r:id="rId4"/>
              </a:rPr>
              <a:t>https://www.paklawsite.com</a:t>
            </a:r>
            <a:endParaRPr sz="950" b="1" i="0" dirty="0">
              <a:solidFill>
                <a:srgbClr val="123F36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85800" y="3835400"/>
            <a:ext cx="5308600" cy="1752600"/>
          </a:xfrm>
          <a:prstGeom prst="roundRect">
            <a:avLst>
              <a:gd name="adj" fmla="val 6000"/>
            </a:avLst>
          </a:prstGeom>
          <a:solidFill>
            <a:srgbClr val="FCF9F2"/>
          </a:solidFill>
          <a:ln w="13970">
            <a:solidFill>
              <a:srgbClr val="D9C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9000" y="4000500"/>
            <a:ext cx="49022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23F36"/>
                </a:solidFill>
                <a:latin typeface="Aptos"/>
              </a:rPr>
              <a:t>Harvey / Casetext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000" y="4241800"/>
            <a:ext cx="49022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30" b="0" i="0">
                <a:solidFill>
                  <a:srgbClr val="896021"/>
                </a:solidFill>
                <a:latin typeface="Aptos"/>
              </a:rPr>
              <a:t>Global enterprise legal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000" y="4432300"/>
            <a:ext cx="4902200" cy="48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C574C"/>
                </a:solidFill>
                <a:latin typeface="Aptos"/>
              </a:rPr>
              <a:t>Harvey valued at $8B; Casetext bought by Thomson Reuters for $650M.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000" y="4978400"/>
            <a:ext cx="4902200" cy="69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1" i="0" dirty="0">
                <a:solidFill>
                  <a:srgbClr val="123F36"/>
                </a:solidFill>
                <a:latin typeface="Aptos"/>
              </a:rPr>
              <a:t>Gap: US/UK law only, $1,000+/month, no Urdu. Still 17–34% hallucination on US law.</a:t>
            </a:r>
            <a:br>
              <a:rPr lang="en-US" sz="950" b="1" dirty="0">
                <a:solidFill>
                  <a:srgbClr val="123F36"/>
                </a:solidFill>
                <a:latin typeface="Aptos"/>
              </a:rPr>
            </a:br>
            <a:r>
              <a:rPr lang="en-US" sz="950" b="1" dirty="0">
                <a:solidFill>
                  <a:srgbClr val="123F36"/>
                </a:solidFill>
                <a:latin typeface="Aptos"/>
                <a:hlinkClick r:id="rId5"/>
              </a:rPr>
              <a:t>https://www.harvey.ai</a:t>
            </a:r>
            <a:br>
              <a:rPr lang="en-US" sz="950" b="1" dirty="0">
                <a:solidFill>
                  <a:srgbClr val="123F36"/>
                </a:solidFill>
                <a:latin typeface="Aptos"/>
              </a:rPr>
            </a:br>
            <a:r>
              <a:rPr lang="en-US" sz="950" b="1" dirty="0">
                <a:solidFill>
                  <a:srgbClr val="123F36"/>
                </a:solidFill>
                <a:latin typeface="Aptos"/>
                <a:hlinkClick r:id="rId6"/>
              </a:rPr>
              <a:t>https://www.legal.io/legal-software/198/Casetext</a:t>
            </a:r>
            <a:br>
              <a:rPr lang="en-US" sz="950" b="1" dirty="0">
                <a:solidFill>
                  <a:srgbClr val="123F36"/>
                </a:solidFill>
                <a:latin typeface="Aptos"/>
              </a:rPr>
            </a:br>
            <a:endParaRPr sz="950" b="1" i="0" dirty="0">
              <a:solidFill>
                <a:srgbClr val="123F36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210300" y="3835400"/>
            <a:ext cx="5308600" cy="1752600"/>
          </a:xfrm>
          <a:prstGeom prst="roundRect">
            <a:avLst>
              <a:gd name="adj" fmla="val 6000"/>
            </a:avLst>
          </a:prstGeom>
          <a:solidFill>
            <a:srgbClr val="FCF9F2"/>
          </a:solidFill>
          <a:ln w="17780">
            <a:solidFill>
              <a:srgbClr val="A04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3500" y="4000500"/>
            <a:ext cx="49022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A04837"/>
                </a:solidFill>
                <a:latin typeface="Aptos"/>
              </a:rPr>
              <a:t>Wakeel.org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3500" y="4241800"/>
            <a:ext cx="4902200" cy="1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30" b="0" i="0">
                <a:solidFill>
                  <a:srgbClr val="896021"/>
                </a:solidFill>
                <a:latin typeface="Aptos"/>
              </a:rPr>
              <a:t>Found in our own 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3500" y="4432300"/>
            <a:ext cx="4902200" cy="48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C574C"/>
                </a:solidFill>
                <a:latin typeface="Aptos"/>
              </a:rPr>
              <a:t>Free tier, Urdu + English, Android/iOS, advocate-reviewed, aimed partly at citizens.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3500" y="4978400"/>
            <a:ext cx="4902200" cy="3407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950" b="1" i="0" dirty="0">
                <a:solidFill>
                  <a:srgbClr val="A04837"/>
                </a:solidFill>
                <a:latin typeface="Aptos"/>
              </a:rPr>
              <a:t>Gap: no simulation or practice mode, and incomplete coverage of laws.</a:t>
            </a:r>
            <a:br>
              <a:rPr lang="en-US" sz="950" b="1" dirty="0">
                <a:solidFill>
                  <a:srgbClr val="A04837"/>
                </a:solidFill>
                <a:latin typeface="Aptos"/>
              </a:rPr>
            </a:br>
            <a:r>
              <a:rPr lang="en-US" sz="950" b="1" dirty="0">
                <a:solidFill>
                  <a:srgbClr val="A04837"/>
                </a:solidFill>
                <a:latin typeface="Aptos"/>
                <a:hlinkClick r:id="rId7"/>
              </a:rPr>
              <a:t>https://play.google.com/store/apps/details?id=pk.digit.aiwakeel</a:t>
            </a:r>
            <a:endParaRPr sz="950" b="1" i="0" dirty="0">
              <a:solidFill>
                <a:srgbClr val="A04837"/>
              </a:solidFill>
              <a:latin typeface="Apto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85800" y="5867400"/>
            <a:ext cx="10833100" cy="381000"/>
          </a:xfrm>
          <a:prstGeom prst="roundRect">
            <a:avLst>
              <a:gd name="adj" fmla="val 28000"/>
            </a:avLst>
          </a:prstGeom>
          <a:solidFill>
            <a:srgbClr val="1F5B4D"/>
          </a:solidFill>
          <a:ln w="10160">
            <a:solidFill>
              <a:srgbClr val="B78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25400" rIns="152400" bIns="25400" rtlCol="0" anchor="ctr"/>
          <a:lstStyle/>
          <a:p>
            <a:pPr algn="ctr"/>
            <a:r>
              <a:rPr sz="1150" b="1">
                <a:solidFill>
                  <a:srgbClr val="F8F4EC"/>
                </a:solidFill>
                <a:latin typeface="Aptos"/>
              </a:rPr>
              <a:t>None of these combine simple access, Urdu, verified sources, offline use and court-ready documents.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304800"/>
            <a:ext cx="11201400" cy="12700"/>
          </a:xfrm>
          <a:prstGeom prst="rect">
            <a:avLst/>
          </a:prstGeom>
          <a:solidFill>
            <a:srgbClr val="B78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8000" y="6477000"/>
            <a:ext cx="11201400" cy="12700"/>
          </a:xfrm>
          <a:prstGeom prst="rect">
            <a:avLst/>
          </a:prstGeom>
          <a:solidFill>
            <a:srgbClr val="B78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123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6900" y="46990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896021"/>
                </a:solidFill>
                <a:latin typeface="Aptos"/>
              </a:rPr>
              <a:t>RELATED SYSTEMS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69900"/>
            <a:ext cx="4711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 spc="40">
                <a:solidFill>
                  <a:srgbClr val="896021"/>
                </a:solidFill>
                <a:latin typeface="Aptos"/>
              </a:rPr>
              <a:t>FEATURES  |  COVERAGE  | 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900" y="774700"/>
            <a:ext cx="96520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23F36"/>
                </a:solidFill>
                <a:latin typeface="Georgia"/>
              </a:rPr>
              <a:t>Feature comparison: where Nizam-e-Qanoon 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346200"/>
            <a:ext cx="8890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C574C"/>
                </a:solidFill>
                <a:latin typeface="Aptos"/>
              </a:rPr>
              <a:t>The same seven checks applied to every system we reviewed.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900" y="65151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spc="40">
                <a:solidFill>
                  <a:srgbClr val="896021"/>
                </a:solidFill>
                <a:latin typeface="Aptos"/>
              </a:rPr>
              <a:t>NIZAM-E-QANOON  |  FINAL YEAR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2000" y="6515100"/>
            <a:ext cx="508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 i="0" dirty="0">
                <a:solidFill>
                  <a:srgbClr val="896021"/>
                </a:solidFill>
                <a:latin typeface="Aptos"/>
              </a:rPr>
              <a:t>0</a:t>
            </a:r>
            <a:r>
              <a:rPr lang="en-GB" sz="750" b="1" i="0" dirty="0">
                <a:solidFill>
                  <a:srgbClr val="896021"/>
                </a:solidFill>
                <a:latin typeface="Aptos"/>
              </a:rPr>
              <a:t>9</a:t>
            </a:r>
            <a:endParaRPr sz="750" b="1" i="0" dirty="0">
              <a:solidFill>
                <a:srgbClr val="896021"/>
              </a:solidFill>
              <a:latin typeface="Aptos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658581"/>
              </p:ext>
            </p:extLst>
          </p:nvPr>
        </p:nvGraphicFramePr>
        <p:xfrm>
          <a:off x="685800" y="1905000"/>
          <a:ext cx="10833100" cy="2946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8F4EC"/>
                          </a:solidFill>
                          <a:latin typeface="Aptos"/>
                        </a:rPr>
                        <a:t>System</a:t>
                      </a:r>
                    </a:p>
                  </a:txBody>
                  <a:tcPr marL="88900" marR="88900" marT="25400" marB="25400" anchor="ctr">
                    <a:solidFill>
                      <a:srgbClr val="123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8F4EC"/>
                          </a:solidFill>
                          <a:latin typeface="Aptos"/>
                        </a:rPr>
                        <a:t>Pak law</a:t>
                      </a:r>
                    </a:p>
                  </a:txBody>
                  <a:tcPr marL="88900" marR="88900" marT="25400" marB="25400" anchor="ctr">
                    <a:solidFill>
                      <a:srgbClr val="123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8F4EC"/>
                          </a:solidFill>
                          <a:latin typeface="Aptos"/>
                        </a:rPr>
                        <a:t>AI</a:t>
                      </a:r>
                    </a:p>
                  </a:txBody>
                  <a:tcPr marL="88900" marR="88900" marT="25400" marB="25400" anchor="ctr">
                    <a:solidFill>
                      <a:srgbClr val="123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8F4EC"/>
                          </a:solidFill>
                          <a:latin typeface="Aptos"/>
                        </a:rPr>
                        <a:t>Urdu</a:t>
                      </a:r>
                    </a:p>
                  </a:txBody>
                  <a:tcPr marL="88900" marR="88900" marT="25400" marB="25400" anchor="ctr">
                    <a:solidFill>
                      <a:srgbClr val="123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8F4EC"/>
                          </a:solidFill>
                          <a:latin typeface="Aptos"/>
                        </a:rPr>
                        <a:t>Source gate</a:t>
                      </a:r>
                    </a:p>
                  </a:txBody>
                  <a:tcPr marL="88900" marR="88900" marT="25400" marB="25400" anchor="ctr">
                    <a:solidFill>
                      <a:srgbClr val="123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8F4EC"/>
                          </a:solidFill>
                          <a:latin typeface="Aptos"/>
                        </a:rPr>
                        <a:t>Offline</a:t>
                      </a:r>
                    </a:p>
                  </a:txBody>
                  <a:tcPr marL="88900" marR="88900" marT="25400" marB="25400" anchor="ctr">
                    <a:solidFill>
                      <a:srgbClr val="123F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8F4EC"/>
                          </a:solidFill>
                          <a:latin typeface="Aptos"/>
                        </a:rPr>
                        <a:t>Documents</a:t>
                      </a:r>
                    </a:p>
                  </a:txBody>
                  <a:tcPr marL="88900" marR="88900" marT="25400" marB="25400" anchor="ctr">
                    <a:solidFill>
                      <a:srgbClr val="123F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8F4EC"/>
                          </a:solidFill>
                          <a:latin typeface="Aptos"/>
                        </a:rPr>
                        <a:t>Primary user</a:t>
                      </a:r>
                    </a:p>
                  </a:txBody>
                  <a:tcPr marL="88900" marR="88900" marT="25400" marB="25400" anchor="ctr">
                    <a:solidFill>
                      <a:srgbClr val="123F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23F36"/>
                          </a:solidFill>
                          <a:latin typeface="Aptos"/>
                        </a:rPr>
                        <a:t>Pakistan Code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Limited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n/a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public / legal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23F36"/>
                          </a:solidFill>
                          <a:latin typeface="Aptos"/>
                        </a:rPr>
                        <a:t>PakistanLawSite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Limited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n/a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lawyers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930" b="1" dirty="0" err="1">
                          <a:solidFill>
                            <a:srgbClr val="123F36"/>
                          </a:solidFill>
                          <a:latin typeface="Aptos"/>
                        </a:rPr>
                        <a:t>PakLa</a:t>
                      </a:r>
                      <a:r>
                        <a:rPr lang="en-GB" sz="930" b="1" dirty="0" err="1">
                          <a:solidFill>
                            <a:srgbClr val="123F36"/>
                          </a:solidFill>
                          <a:latin typeface="Aptos"/>
                        </a:rPr>
                        <a:t>wSite</a:t>
                      </a:r>
                      <a:endParaRPr lang="en-US" sz="930" b="1" dirty="0">
                        <a:solidFill>
                          <a:srgbClr val="123F36"/>
                        </a:solidFill>
                        <a:latin typeface="Aptos"/>
                      </a:endParaRP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unclear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drafting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citizens + lawyers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23F36"/>
                          </a:solidFill>
                          <a:latin typeface="Aptos"/>
                        </a:rPr>
                        <a:t>Wakeel.org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claimed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templates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citizens + legal users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930" b="1" dirty="0">
                          <a:solidFill>
                            <a:srgbClr val="123F36"/>
                          </a:solidFill>
                          <a:latin typeface="Aptos"/>
                        </a:rPr>
                        <a:t>Harvey / </a:t>
                      </a:r>
                      <a:r>
                        <a:rPr sz="930" b="1" dirty="0" err="1">
                          <a:solidFill>
                            <a:srgbClr val="123F36"/>
                          </a:solidFill>
                          <a:latin typeface="Aptos"/>
                        </a:rPr>
                        <a:t>Casetext</a:t>
                      </a:r>
                      <a:endParaRPr sz="930" b="1" dirty="0">
                        <a:solidFill>
                          <a:srgbClr val="123F36"/>
                        </a:solidFill>
                        <a:latin typeface="Aptos"/>
                      </a:endParaRP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US law firms</a:t>
                      </a:r>
                    </a:p>
                  </a:txBody>
                  <a:tcPr marL="88900" marR="88900" marT="25400" marB="25400" anchor="ctr">
                    <a:solidFill>
                      <a:srgbClr val="FCF9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123F36"/>
                          </a:solidFill>
                          <a:latin typeface="Aptos"/>
                        </a:rPr>
                        <a:t>Generic LLMs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weak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drafting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>
                          <a:solidFill>
                            <a:srgbClr val="5C574C"/>
                          </a:solidFill>
                          <a:latin typeface="Aptos"/>
                        </a:rPr>
                        <a:t>everyone</a:t>
                      </a:r>
                    </a:p>
                  </a:txBody>
                  <a:tcPr marL="88900" marR="88900" marT="25400" marB="25400"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l"/>
                      <a:r>
                        <a:rPr sz="930" b="1">
                          <a:solidFill>
                            <a:srgbClr val="896021"/>
                          </a:solidFill>
                          <a:latin typeface="Aptos"/>
                        </a:rPr>
                        <a:t>Nizam-e-Qanoon (planned)</a:t>
                      </a:r>
                    </a:p>
                  </a:txBody>
                  <a:tcPr marL="88900" marR="88900" marT="25400" marB="25400" anchor="ctr">
                    <a:solidFill>
                      <a:srgbClr val="F0E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896021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88900" marR="88900" marT="25400" marB="25400" anchor="ctr">
                    <a:solidFill>
                      <a:srgbClr val="F0E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896021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88900" marR="88900" marT="25400" marB="25400" anchor="ctr">
                    <a:solidFill>
                      <a:srgbClr val="F0E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896021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88900" marR="88900" marT="25400" marB="25400" anchor="ctr">
                    <a:solidFill>
                      <a:srgbClr val="F0E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896021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88900" marR="88900" marT="25400" marB="25400" anchor="ctr">
                    <a:solidFill>
                      <a:srgbClr val="F0E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896021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88900" marR="88900" marT="25400" marB="25400" anchor="ctr">
                    <a:solidFill>
                      <a:srgbClr val="F0E4C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896021"/>
                          </a:solidFill>
                          <a:latin typeface="Aptos"/>
                        </a:rPr>
                        <a:t>✓</a:t>
                      </a:r>
                    </a:p>
                  </a:txBody>
                  <a:tcPr marL="88900" marR="88900" marT="25400" marB="25400" anchor="ctr">
                    <a:solidFill>
                      <a:srgbClr val="F0E4C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1" dirty="0">
                          <a:solidFill>
                            <a:srgbClr val="896021"/>
                          </a:solidFill>
                          <a:latin typeface="Aptos"/>
                        </a:rPr>
                        <a:t>citizens + legal users</a:t>
                      </a:r>
                    </a:p>
                  </a:txBody>
                  <a:tcPr marL="88900" marR="88900" marT="25400" marB="25400" anchor="ctr">
                    <a:solidFill>
                      <a:srgbClr val="F0E4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5308600"/>
            <a:ext cx="10833100" cy="33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30" b="0" i="1">
                <a:solidFill>
                  <a:srgbClr val="896021"/>
                </a:solidFill>
                <a:latin typeface="Aptos"/>
              </a:rPr>
              <a:t>“unclear” = not publicly documented; “claimed” = stated on the product’s own site, not independently tested; “n/a” = no AI generation to gate. Our row shows the proposed design; features are not all built yet.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867400"/>
            <a:ext cx="10833100" cy="381000"/>
          </a:xfrm>
          <a:prstGeom prst="roundRect">
            <a:avLst>
              <a:gd name="adj" fmla="val 28000"/>
            </a:avLst>
          </a:prstGeom>
          <a:solidFill>
            <a:srgbClr val="1F5B4D"/>
          </a:solidFill>
          <a:ln w="10160">
            <a:solidFill>
              <a:srgbClr val="B78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25400" rIns="152400" bIns="25400" rtlCol="0" anchor="ctr"/>
          <a:lstStyle/>
          <a:p>
            <a:pPr algn="ctr"/>
            <a:r>
              <a:rPr sz="1150" b="1">
                <a:solidFill>
                  <a:srgbClr val="F8F4EC"/>
                </a:solidFill>
                <a:latin typeface="Aptos"/>
              </a:rPr>
              <a:t>The real gap: simple access + Urdu/English + verified Pakistani sources + useful outputs in one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304800"/>
            <a:ext cx="11201400" cy="12700"/>
          </a:xfrm>
          <a:prstGeom prst="rect">
            <a:avLst/>
          </a:prstGeom>
          <a:solidFill>
            <a:srgbClr val="B78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8000" y="6477000"/>
            <a:ext cx="11201400" cy="12700"/>
          </a:xfrm>
          <a:prstGeom prst="rect">
            <a:avLst/>
          </a:prstGeom>
          <a:solidFill>
            <a:srgbClr val="B78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123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6900" y="46990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60">
                <a:solidFill>
                  <a:srgbClr val="896021"/>
                </a:solidFill>
                <a:latin typeface="Aptos"/>
              </a:rPr>
              <a:t>POTENTIAL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69900"/>
            <a:ext cx="4711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 i="0" spc="40">
                <a:solidFill>
                  <a:srgbClr val="896021"/>
                </a:solidFill>
                <a:latin typeface="Aptos"/>
              </a:rPr>
              <a:t>CITIZENS  |  LAWYERS  |  JUDGES  | 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900" y="774700"/>
            <a:ext cx="96520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 i="0">
                <a:solidFill>
                  <a:srgbClr val="123F36"/>
                </a:solidFill>
                <a:latin typeface="Georgia"/>
              </a:rPr>
              <a:t>Four real users, four different 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346200"/>
            <a:ext cx="8890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5C574C"/>
                </a:solidFill>
                <a:latin typeface="Aptos"/>
              </a:rPr>
              <a:t>Who Nizam-e-Qanoon is built for — and how many of them there are in Pakistan.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900" y="65151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spc="40">
                <a:solidFill>
                  <a:srgbClr val="896021"/>
                </a:solidFill>
                <a:latin typeface="Aptos"/>
              </a:rPr>
              <a:t>NIZAM-E-QANOON  |  FINAL YEAR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2000" y="6515100"/>
            <a:ext cx="5080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GB" sz="750" b="1" dirty="0">
                <a:solidFill>
                  <a:srgbClr val="896021"/>
                </a:solidFill>
                <a:latin typeface="Aptos"/>
              </a:rPr>
              <a:t>10</a:t>
            </a:r>
            <a:endParaRPr sz="750" b="1" i="0" dirty="0">
              <a:solidFill>
                <a:srgbClr val="896021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5800" y="1905000"/>
            <a:ext cx="2555875" cy="3683000"/>
          </a:xfrm>
          <a:prstGeom prst="roundRect">
            <a:avLst>
              <a:gd name="adj" fmla="val 4500"/>
            </a:avLst>
          </a:prstGeom>
          <a:solidFill>
            <a:srgbClr val="FCF9F2"/>
          </a:solidFill>
          <a:ln w="17780">
            <a:solidFill>
              <a:srgbClr val="B78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3600" y="2082800"/>
            <a:ext cx="2200275" cy="584200"/>
          </a:xfrm>
          <a:prstGeom prst="roundRect">
            <a:avLst>
              <a:gd name="adj" fmla="val 8000"/>
            </a:avLst>
          </a:prstGeom>
          <a:solidFill>
            <a:srgbClr val="B78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2000" b="1">
                <a:solidFill>
                  <a:srgbClr val="F8F4EC"/>
                </a:solidFill>
                <a:latin typeface="Georgia"/>
              </a:rPr>
              <a:t>251M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600" y="2743200"/>
            <a:ext cx="22002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5C574C"/>
                </a:solidFill>
                <a:latin typeface="Aptos"/>
              </a:rPr>
              <a:t>citizens; about 150M already on mobile broadband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" y="3162300"/>
            <a:ext cx="22002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23F36"/>
                </a:solidFill>
                <a:latin typeface="Aptos"/>
              </a:rPr>
              <a:t>Common citizens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3600" y="3467100"/>
            <a:ext cx="2200275" cy="9525"/>
          </a:xfrm>
          <a:prstGeom prst="rect">
            <a:avLst/>
          </a:prstGeom>
          <a:solidFill>
            <a:srgbClr val="D9C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3600" y="3594100"/>
            <a:ext cx="22002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A04837"/>
                </a:solidFill>
                <a:latin typeface="Aptos"/>
              </a:rPr>
              <a:t>“What law applies to my situation?”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00" y="4025900"/>
            <a:ext cx="22002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0" i="0">
                <a:solidFill>
                  <a:srgbClr val="5C574C"/>
                </a:solidFill>
                <a:latin typeface="Aptos"/>
              </a:rPr>
              <a:t>Simple Urdu or English explanation, a cited answer and the next step. Works offline.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00" y="5232400"/>
            <a:ext cx="2200275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30" b="0" i="0">
                <a:solidFill>
                  <a:srgbClr val="896021"/>
                </a:solidFill>
                <a:latin typeface="Aptos"/>
              </a:rPr>
              <a:t>PBS census 2023 · PTA indicators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44875" y="1905000"/>
            <a:ext cx="2555875" cy="3683000"/>
          </a:xfrm>
          <a:prstGeom prst="roundRect">
            <a:avLst>
              <a:gd name="adj" fmla="val 4500"/>
            </a:avLst>
          </a:prstGeom>
          <a:solidFill>
            <a:srgbClr val="FCF9F2"/>
          </a:solidFill>
          <a:ln w="13970">
            <a:solidFill>
              <a:srgbClr val="D9C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22675" y="2082800"/>
            <a:ext cx="2200275" cy="584200"/>
          </a:xfrm>
          <a:prstGeom prst="roundRect">
            <a:avLst>
              <a:gd name="adj" fmla="val 8000"/>
            </a:avLst>
          </a:prstGeom>
          <a:solidFill>
            <a:srgbClr val="123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2000" b="1">
                <a:solidFill>
                  <a:srgbClr val="F8F4EC"/>
                </a:solidFill>
                <a:latin typeface="Georgia"/>
              </a:rPr>
              <a:t>200K+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2675" y="2743200"/>
            <a:ext cx="22002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5C574C"/>
                </a:solidFill>
                <a:latin typeface="Aptos"/>
              </a:rPr>
              <a:t>enrolled advocates; Punjab alone about 130K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2675" y="3162300"/>
            <a:ext cx="22002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23F36"/>
                </a:solidFill>
                <a:latin typeface="Aptos"/>
              </a:rPr>
              <a:t>Lawyers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22675" y="3467100"/>
            <a:ext cx="2200275" cy="9525"/>
          </a:xfrm>
          <a:prstGeom prst="rect">
            <a:avLst/>
          </a:prstGeom>
          <a:solidFill>
            <a:srgbClr val="D9C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22675" y="3594100"/>
            <a:ext cx="22002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A04837"/>
                </a:solidFill>
                <a:latin typeface="Aptos"/>
              </a:rPr>
              <a:t>“Can I trust the references?”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2675" y="4025900"/>
            <a:ext cx="22002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0" i="0">
                <a:solidFill>
                  <a:srgbClr val="5C574C"/>
                </a:solidFill>
                <a:latin typeface="Aptos"/>
              </a:rPr>
              <a:t>Source-linked summaries, proper legal language and faster research.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2675" y="5232400"/>
            <a:ext cx="2200275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30" b="0" i="0">
                <a:solidFill>
                  <a:srgbClr val="896021"/>
                </a:solidFill>
                <a:latin typeface="Aptos"/>
              </a:rPr>
              <a:t>Lawyher.pk baseline report, 2021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3950" y="1905000"/>
            <a:ext cx="2555875" cy="3683000"/>
          </a:xfrm>
          <a:prstGeom prst="roundRect">
            <a:avLst>
              <a:gd name="adj" fmla="val 4500"/>
            </a:avLst>
          </a:prstGeom>
          <a:solidFill>
            <a:srgbClr val="FCF9F2"/>
          </a:solidFill>
          <a:ln w="13970">
            <a:solidFill>
              <a:srgbClr val="D9C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381750" y="2082800"/>
            <a:ext cx="2200275" cy="584200"/>
          </a:xfrm>
          <a:prstGeom prst="roundRect">
            <a:avLst>
              <a:gd name="adj" fmla="val 8000"/>
            </a:avLst>
          </a:prstGeom>
          <a:solidFill>
            <a:srgbClr val="123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2000" b="1">
                <a:solidFill>
                  <a:srgbClr val="F8F4EC"/>
                </a:solidFill>
                <a:latin typeface="Georgia"/>
              </a:rPr>
              <a:t>~4,000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1750" y="2743200"/>
            <a:ext cx="22002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5C574C"/>
                </a:solidFill>
                <a:latin typeface="Aptos"/>
              </a:rPr>
              <a:t>judges carrying 2.3M pending cases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1750" y="3162300"/>
            <a:ext cx="22002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23F36"/>
                </a:solidFill>
                <a:latin typeface="Aptos"/>
              </a:rPr>
              <a:t>Judges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1750" y="3467100"/>
            <a:ext cx="2200275" cy="9525"/>
          </a:xfrm>
          <a:prstGeom prst="rect">
            <a:avLst/>
          </a:prstGeom>
          <a:solidFill>
            <a:srgbClr val="D9C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1750" y="3594100"/>
            <a:ext cx="22002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A04837"/>
                </a:solidFill>
                <a:latin typeface="Aptos"/>
              </a:rPr>
              <a:t>“Is this summary traceable?”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1750" y="4025900"/>
            <a:ext cx="22002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0" i="0">
                <a:solidFill>
                  <a:srgbClr val="5C574C"/>
                </a:solidFill>
                <a:latin typeface="Aptos"/>
              </a:rPr>
              <a:t>Document summaries tied to database-backed references.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1750" y="5232400"/>
            <a:ext cx="2200275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30" b="0" i="0">
                <a:solidFill>
                  <a:srgbClr val="896021"/>
                </a:solidFill>
                <a:latin typeface="Aptos"/>
              </a:rPr>
              <a:t>Law &amp; Justice Commission of Pakistan, 2024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3025" y="1905000"/>
            <a:ext cx="2555875" cy="3683000"/>
          </a:xfrm>
          <a:prstGeom prst="roundRect">
            <a:avLst>
              <a:gd name="adj" fmla="val 4500"/>
            </a:avLst>
          </a:prstGeom>
          <a:solidFill>
            <a:srgbClr val="FCF9F2"/>
          </a:solidFill>
          <a:ln w="13970">
            <a:solidFill>
              <a:srgbClr val="D9CD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140825" y="2082800"/>
            <a:ext cx="2200275" cy="584200"/>
          </a:xfrm>
          <a:prstGeom prst="roundRect">
            <a:avLst>
              <a:gd name="adj" fmla="val 8000"/>
            </a:avLst>
          </a:prstGeom>
          <a:solidFill>
            <a:srgbClr val="123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2000" b="1">
                <a:solidFill>
                  <a:srgbClr val="F8F4EC"/>
                </a:solidFill>
                <a:latin typeface="Georgia"/>
              </a:rPr>
              <a:t>150+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0825" y="2743200"/>
            <a:ext cx="22002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5C574C"/>
                </a:solidFill>
                <a:latin typeface="Aptos"/>
              </a:rPr>
              <a:t>law colleges under HEC and Pakistan Bar Council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0825" y="3162300"/>
            <a:ext cx="22002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23F36"/>
                </a:solidFill>
                <a:latin typeface="Aptos"/>
              </a:rPr>
              <a:t>Law students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0825" y="3467100"/>
            <a:ext cx="2200275" cy="9525"/>
          </a:xfrm>
          <a:prstGeom prst="rect">
            <a:avLst/>
          </a:prstGeom>
          <a:solidFill>
            <a:srgbClr val="D9C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0825" y="3594100"/>
            <a:ext cx="2200275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A04837"/>
                </a:solidFill>
                <a:latin typeface="Aptos"/>
              </a:rPr>
              <a:t>“How do I learn law practically?”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0825" y="4025900"/>
            <a:ext cx="22002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19" b="0" i="0">
                <a:solidFill>
                  <a:srgbClr val="5C574C"/>
                </a:solidFill>
                <a:latin typeface="Aptos"/>
              </a:rPr>
              <a:t>Guided examples, scenarios and interactive learning.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0825" y="5232400"/>
            <a:ext cx="2200275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30" b="0" i="0">
                <a:solidFill>
                  <a:srgbClr val="896021"/>
                </a:solidFill>
                <a:latin typeface="Aptos"/>
              </a:rPr>
              <a:t>HEC / Pakistan Bar Council listings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5867400"/>
            <a:ext cx="10833100" cy="381000"/>
          </a:xfrm>
          <a:prstGeom prst="roundRect">
            <a:avLst>
              <a:gd name="adj" fmla="val 28000"/>
            </a:avLst>
          </a:prstGeom>
          <a:solidFill>
            <a:srgbClr val="1F5B4D"/>
          </a:solidFill>
          <a:ln w="10160">
            <a:solidFill>
              <a:srgbClr val="B789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25400" rIns="152400" bIns="25400" rtlCol="0" anchor="ctr"/>
          <a:lstStyle/>
          <a:p>
            <a:pPr algn="ctr"/>
            <a:r>
              <a:rPr sz="1150" b="1">
                <a:solidFill>
                  <a:srgbClr val="F8F4EC"/>
                </a:solidFill>
                <a:latin typeface="Aptos"/>
              </a:rPr>
              <a:t>One shared base: verified Pakistani legal corpus + tuned legal intelligence — four entry points.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47472"/>
            <a:ext cx="10927080" cy="18288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446520"/>
            <a:ext cx="10927080" cy="18288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23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987784" y="0"/>
            <a:ext cx="201168" cy="6858000"/>
          </a:xfrm>
          <a:prstGeom prst="rect">
            <a:avLst/>
          </a:prstGeom>
          <a:solidFill>
            <a:srgbClr val="123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47548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896021"/>
                </a:solidFill>
                <a:latin typeface="Aptos"/>
              </a:rPr>
              <a:t>NIZAM-E-QANOON  |  FINAL YEAR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240280"/>
            <a:ext cx="8366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900" b="1">
                <a:solidFill>
                  <a:srgbClr val="123F36"/>
                </a:solidFill>
                <a:latin typeface="Georgia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907792"/>
            <a:ext cx="8915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625C52"/>
                </a:solidFill>
                <a:latin typeface="Aptos"/>
              </a:rPr>
              <a:t>for listening to our presentation on Nizam-e-Qanoon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3675887"/>
            <a:ext cx="1371600" cy="16459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788152" y="3593592"/>
            <a:ext cx="164592" cy="164592"/>
          </a:xfrm>
          <a:prstGeom prst="ellipse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3675887"/>
            <a:ext cx="1371600" cy="16459"/>
          </a:xfrm>
          <a:prstGeom prst="rect">
            <a:avLst/>
          </a:prstGeom>
          <a:solidFill>
            <a:srgbClr val="B78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4041648"/>
            <a:ext cx="5897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23F36"/>
                </a:solidFill>
                <a:latin typeface="Georgia"/>
              </a:rPr>
              <a:t>Questions &amp;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4709160"/>
            <a:ext cx="6537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>
                <a:solidFill>
                  <a:srgbClr val="896021"/>
                </a:solidFill>
                <a:latin typeface="Aptos"/>
              </a:rPr>
              <a:t>We would be happy to take your questions.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10528"/>
            <a:ext cx="27432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>
                <a:solidFill>
                  <a:srgbClr val="896021"/>
                </a:solidFill>
                <a:latin typeface="Aptos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1600</Words>
  <Application>Microsoft Office PowerPoint</Application>
  <PresentationFormat>Widescreen</PresentationFormat>
  <Paragraphs>303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bilal ahmad</dc:creator>
  <cp:keywords/>
  <dc:description>generated using python-pptx</dc:description>
  <cp:lastModifiedBy>bilal ahmad</cp:lastModifiedBy>
  <cp:revision>9</cp:revision>
  <dcterms:created xsi:type="dcterms:W3CDTF">2013-01-27T09:14:16Z</dcterms:created>
  <dcterms:modified xsi:type="dcterms:W3CDTF">2026-09-22T08:22:38Z</dcterms:modified>
  <cp:category/>
</cp:coreProperties>
</file>